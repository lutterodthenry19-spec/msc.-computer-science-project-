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8" r:id="rId6"/>
    <p:sldId id="261" r:id="rId7"/>
    <p:sldId id="260" r:id="rId8"/>
    <p:sldId id="263" r:id="rId9"/>
    <p:sldId id="269" r:id="rId10"/>
    <p:sldId id="265" r:id="rId11"/>
    <p:sldId id="267" r:id="rId12"/>
    <p:sldId id="270" r:id="rId13"/>
  </p:sldIdLst>
  <p:sldSz cx="14630400" cy="8229600"/>
  <p:notesSz cx="8229600" cy="14630400"/>
  <p:embeddedFontLst>
    <p:embeddedFont>
      <p:font typeface="Gelasio" panose="020B0604020202020204" charset="0"/>
      <p:regular r:id="rId15"/>
    </p:embeddedFont>
    <p:embeddedFont>
      <p:font typeface="Lato" panose="020F0502020204030203" pitchFamily="34" charset="0"/>
      <p:regular r:id="rId16"/>
      <p:bold r:id="rId17"/>
      <p:italic r:id="rId18"/>
    </p:embeddedFont>
    <p:embeddedFont>
      <p:font typeface="Raleway" pitchFamily="2" charset="0"/>
      <p:regular r:id="rId19"/>
      <p:bold r:id="rId20"/>
    </p:embeddedFont>
    <p:embeddedFont>
      <p:font typeface="Roboto" panose="02000000000000000000" pitchFamily="2" charset="0"/>
      <p:regular r:id="rId21"/>
      <p:bold r:id="rId22"/>
      <p:italic r:id="rId23"/>
      <p:bold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93" d="100"/>
          <a:sy n="93" d="100"/>
        </p:scale>
        <p:origin x="5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1594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extLst>
      <p:ext uri="{BB962C8B-B14F-4D97-AF65-F5344CB8AC3E}">
        <p14:creationId xmlns:p14="http://schemas.microsoft.com/office/powerpoint/2010/main" val="365043331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extLst>
      <p:ext uri="{BB962C8B-B14F-4D97-AF65-F5344CB8AC3E}">
        <p14:creationId xmlns:p14="http://schemas.microsoft.com/office/powerpoint/2010/main" val="296936119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extLst>
      <p:ext uri="{BB962C8B-B14F-4D97-AF65-F5344CB8AC3E}">
        <p14:creationId xmlns:p14="http://schemas.microsoft.com/office/powerpoint/2010/main" val="421797469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extLst>
      <p:ext uri="{BB962C8B-B14F-4D97-AF65-F5344CB8AC3E}">
        <p14:creationId xmlns:p14="http://schemas.microsoft.com/office/powerpoint/2010/main" val="288427298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extLst>
      <p:ext uri="{BB962C8B-B14F-4D97-AF65-F5344CB8AC3E}">
        <p14:creationId xmlns:p14="http://schemas.microsoft.com/office/powerpoint/2010/main" val="82523165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1736646" y="1486733"/>
            <a:ext cx="5670590" cy="708779"/>
          </a:xfrm>
          <a:prstGeom prst="rect">
            <a:avLst/>
          </a:prstGeom>
          <a:noFill/>
          <a:ln/>
        </p:spPr>
        <p:txBody>
          <a:bodyPr wrap="none" lIns="0" tIns="0" rIns="0" bIns="0" rtlCol="0" anchor="t"/>
          <a:lstStyle/>
          <a:p>
            <a:pPr marL="0" indent="0" algn="ctr">
              <a:lnSpc>
                <a:spcPts val="5550"/>
              </a:lnSpc>
              <a:buNone/>
            </a:pPr>
            <a:r>
              <a:rPr lang="en-US" sz="4450" dirty="0">
                <a:solidFill>
                  <a:srgbClr val="312F2B"/>
                </a:solidFill>
                <a:latin typeface="Gelasio" pitchFamily="34" charset="0"/>
                <a:ea typeface="Gelasio" pitchFamily="34" charset="-122"/>
                <a:cs typeface="Gelasio" pitchFamily="34" charset="-120"/>
              </a:rPr>
              <a:t>Title</a:t>
            </a:r>
            <a:endParaRPr lang="en-US" sz="4450" dirty="0"/>
          </a:p>
        </p:txBody>
      </p:sp>
      <p:sp>
        <p:nvSpPr>
          <p:cNvPr id="4" name="Text 1"/>
          <p:cNvSpPr/>
          <p:nvPr/>
        </p:nvSpPr>
        <p:spPr>
          <a:xfrm>
            <a:off x="719196" y="3117631"/>
            <a:ext cx="7556421" cy="2267903"/>
          </a:xfrm>
          <a:prstGeom prst="rect">
            <a:avLst/>
          </a:prstGeom>
          <a:noFill/>
          <a:ln/>
        </p:spPr>
        <p:txBody>
          <a:bodyPr wrap="square" lIns="0" tIns="0" rIns="0" bIns="0" rtlCol="0" anchor="t"/>
          <a:lstStyle/>
          <a:p>
            <a:pPr algn="ctr">
              <a:lnSpc>
                <a:spcPts val="4450"/>
              </a:lnSpc>
            </a:pPr>
            <a:r>
              <a:rPr lang="en-US" sz="3600" dirty="0">
                <a:latin typeface="Gelasio" panose="020B0604020202020204" charset="0"/>
                <a:cs typeface="Gelasio" panose="020B0604020202020204" charset="0"/>
              </a:rPr>
              <a:t>Efficient Credit Card Fraud Detection Using a MobileNetV3-GRU-MLP Ensemble for Imbalanced Transactions</a:t>
            </a:r>
            <a:endParaRPr lang="en-US" sz="3550" dirty="0">
              <a:latin typeface="Gelasio" panose="020B0604020202020204" charset="0"/>
              <a:cs typeface="Gelasio" panose="020B0604020202020204" charset="0"/>
            </a:endParaRPr>
          </a:p>
        </p:txBody>
      </p:sp>
      <p:sp>
        <p:nvSpPr>
          <p:cNvPr id="5" name="Text 2"/>
          <p:cNvSpPr/>
          <p:nvPr/>
        </p:nvSpPr>
        <p:spPr>
          <a:xfrm>
            <a:off x="750298" y="6169455"/>
            <a:ext cx="7556421" cy="362903"/>
          </a:xfrm>
          <a:prstGeom prst="rect">
            <a:avLst/>
          </a:prstGeom>
          <a:noFill/>
          <a:ln/>
        </p:spPr>
        <p:txBody>
          <a:bodyPr wrap="none" lIns="0" tIns="0" rIns="0" bIns="0" rtlCol="0" anchor="t"/>
          <a:lstStyle/>
          <a:p>
            <a:pPr marL="0" indent="0" algn="ctr">
              <a:lnSpc>
                <a:spcPts val="2850"/>
              </a:lnSpc>
              <a:buNone/>
            </a:pPr>
            <a:r>
              <a:rPr lang="en-US" sz="1750" b="1" dirty="0">
                <a:solidFill>
                  <a:srgbClr val="272525"/>
                </a:solidFill>
                <a:latin typeface="Lato" pitchFamily="34" charset="0"/>
                <a:ea typeface="Lato" pitchFamily="34" charset="-122"/>
                <a:cs typeface="Lato" pitchFamily="34" charset="-120"/>
              </a:rPr>
              <a:t>By Henry Veilhelm Lutterodt</a:t>
            </a:r>
            <a:endParaRPr lang="en-US" sz="1750" b="1" dirty="0"/>
          </a:p>
        </p:txBody>
      </p:sp>
      <p:sp>
        <p:nvSpPr>
          <p:cNvPr id="6" name="Text 3"/>
          <p:cNvSpPr/>
          <p:nvPr/>
        </p:nvSpPr>
        <p:spPr>
          <a:xfrm>
            <a:off x="653671" y="6742867"/>
            <a:ext cx="7556421" cy="362903"/>
          </a:xfrm>
          <a:prstGeom prst="rect">
            <a:avLst/>
          </a:prstGeom>
          <a:noFill/>
          <a:ln/>
        </p:spPr>
        <p:txBody>
          <a:bodyPr wrap="none" lIns="0" tIns="0" rIns="0" bIns="0" rtlCol="0" anchor="t"/>
          <a:lstStyle/>
          <a:p>
            <a:pPr marL="0" indent="0" algn="ctr">
              <a:lnSpc>
                <a:spcPts val="2850"/>
              </a:lnSpc>
              <a:buNone/>
            </a:pPr>
            <a:r>
              <a:rPr lang="en-US" sz="1750" b="1" dirty="0">
                <a:solidFill>
                  <a:srgbClr val="272525"/>
                </a:solidFill>
                <a:latin typeface="Lato" pitchFamily="34" charset="0"/>
                <a:ea typeface="Lato" pitchFamily="34" charset="-122"/>
                <a:cs typeface="Lato" pitchFamily="34" charset="-120"/>
              </a:rPr>
              <a:t>ID: 22259585</a:t>
            </a:r>
            <a:endParaRPr lang="en-US" sz="1750" b="1" dirty="0"/>
          </a:p>
        </p:txBody>
      </p:sp>
      <p:sp>
        <p:nvSpPr>
          <p:cNvPr id="7" name="Text 4"/>
          <p:cNvSpPr/>
          <p:nvPr/>
        </p:nvSpPr>
        <p:spPr>
          <a:xfrm>
            <a:off x="719197" y="7316279"/>
            <a:ext cx="7556421" cy="362903"/>
          </a:xfrm>
          <a:prstGeom prst="rect">
            <a:avLst/>
          </a:prstGeom>
          <a:noFill/>
          <a:ln/>
        </p:spPr>
        <p:txBody>
          <a:bodyPr wrap="none" lIns="0" tIns="0" rIns="0" bIns="0" rtlCol="0" anchor="t"/>
          <a:lstStyle/>
          <a:p>
            <a:pPr marL="0" indent="0" algn="ctr">
              <a:lnSpc>
                <a:spcPts val="2850"/>
              </a:lnSpc>
              <a:buNone/>
            </a:pPr>
            <a:r>
              <a:rPr lang="en-US" sz="1750" b="1" dirty="0">
                <a:solidFill>
                  <a:srgbClr val="272525"/>
                </a:solidFill>
                <a:latin typeface="Lato" pitchFamily="34" charset="0"/>
                <a:ea typeface="Lato" pitchFamily="34" charset="-122"/>
                <a:cs typeface="Lato" pitchFamily="34" charset="-120"/>
              </a:rPr>
              <a:t>Supervisor: Dr. Edward Danso Ansong</a:t>
            </a:r>
            <a:endParaRPr lang="en-US" sz="1750" b="1" dirty="0"/>
          </a:p>
        </p:txBody>
      </p:sp>
      <p:pic>
        <p:nvPicPr>
          <p:cNvPr id="9" name="Image 0" descr="preencoded.png">
            <a:extLst>
              <a:ext uri="{FF2B5EF4-FFF2-40B4-BE49-F238E27FC236}">
                <a16:creationId xmlns:a16="http://schemas.microsoft.com/office/drawing/2014/main" id="{915C3C94-223B-768A-8275-4318CE4AE319}"/>
              </a:ext>
            </a:extLst>
          </p:cNvPr>
          <p:cNvPicPr>
            <a:picLocks noChangeAspect="1"/>
          </p:cNvPicPr>
          <p:nvPr/>
        </p:nvPicPr>
        <p:blipFill>
          <a:blip r:embed="rId3"/>
          <a:stretch>
            <a:fillRect/>
          </a:stretch>
        </p:blipFill>
        <p:spPr>
          <a:xfrm>
            <a:off x="8375094" y="0"/>
            <a:ext cx="6255306" cy="822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31"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fltVal val="0"/>
                                          </p:val>
                                        </p:tav>
                                        <p:tav tm="100000">
                                          <p:val>
                                            <p:strVal val="#ppt_w"/>
                                          </p:val>
                                        </p:tav>
                                      </p:tavLst>
                                    </p:anim>
                                    <p:anim calcmode="lin" valueType="num">
                                      <p:cBhvr>
                                        <p:cTn id="13" dur="1000" fill="hold"/>
                                        <p:tgtEl>
                                          <p:spTgt spid="7"/>
                                        </p:tgtEl>
                                        <p:attrNameLst>
                                          <p:attrName>ppt_h</p:attrName>
                                        </p:attrNameLst>
                                      </p:cBhvr>
                                      <p:tavLst>
                                        <p:tav tm="0">
                                          <p:val>
                                            <p:fltVal val="0"/>
                                          </p:val>
                                        </p:tav>
                                        <p:tav tm="100000">
                                          <p:val>
                                            <p:strVal val="#ppt_h"/>
                                          </p:val>
                                        </p:tav>
                                      </p:tavLst>
                                    </p:anim>
                                    <p:anim calcmode="lin" valueType="num">
                                      <p:cBhvr>
                                        <p:cTn id="14" dur="1000" fill="hold"/>
                                        <p:tgtEl>
                                          <p:spTgt spid="7"/>
                                        </p:tgtEl>
                                        <p:attrNameLst>
                                          <p:attrName>style.rotation</p:attrName>
                                        </p:attrNameLst>
                                      </p:cBhvr>
                                      <p:tavLst>
                                        <p:tav tm="0">
                                          <p:val>
                                            <p:fltVal val="90"/>
                                          </p:val>
                                        </p:tav>
                                        <p:tav tm="100000">
                                          <p:val>
                                            <p:fltVal val="0"/>
                                          </p:val>
                                        </p:tav>
                                      </p:tavLst>
                                    </p:anim>
                                    <p:animEffect transition="in" filter="fade">
                                      <p:cBhvr>
                                        <p:cTn id="15" dur="1000"/>
                                        <p:tgtEl>
                                          <p:spTgt spid="7"/>
                                        </p:tgtEl>
                                      </p:cBhvr>
                                    </p:animEffect>
                                  </p:childTnLst>
                                </p:cTn>
                              </p:par>
                              <p:par>
                                <p:cTn id="16" presetID="42"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1000"/>
                                        <p:tgtEl>
                                          <p:spTgt spid="9"/>
                                        </p:tgtEl>
                                      </p:cBhvr>
                                    </p:animEffect>
                                    <p:anim calcmode="lin" valueType="num">
                                      <p:cBhvr>
                                        <p:cTn id="19" dur="1000" fill="hold"/>
                                        <p:tgtEl>
                                          <p:spTgt spid="9"/>
                                        </p:tgtEl>
                                        <p:attrNameLst>
                                          <p:attrName>ppt_x</p:attrName>
                                        </p:attrNameLst>
                                      </p:cBhvr>
                                      <p:tavLst>
                                        <p:tav tm="0">
                                          <p:val>
                                            <p:strVal val="#ppt_x"/>
                                          </p:val>
                                        </p:tav>
                                        <p:tav tm="100000">
                                          <p:val>
                                            <p:strVal val="#ppt_x"/>
                                          </p:val>
                                        </p:tav>
                                      </p:tavLst>
                                    </p:anim>
                                    <p:anim calcmode="lin" valueType="num">
                                      <p:cBhvr>
                                        <p:cTn id="2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191816"/>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Introduction</a:t>
            </a:r>
            <a:endParaRPr lang="en-US" sz="4450" dirty="0"/>
          </a:p>
        </p:txBody>
      </p:sp>
      <p:sp>
        <p:nvSpPr>
          <p:cNvPr id="4" name="Text 1"/>
          <p:cNvSpPr/>
          <p:nvPr/>
        </p:nvSpPr>
        <p:spPr>
          <a:xfrm>
            <a:off x="6280190" y="2240756"/>
            <a:ext cx="7556421" cy="362903"/>
          </a:xfrm>
          <a:prstGeom prst="rect">
            <a:avLst/>
          </a:prstGeom>
          <a:noFill/>
          <a:ln/>
        </p:spPr>
        <p:txBody>
          <a:bodyPr wrap="none" lIns="0" tIns="0" rIns="0" bIns="0" rtlCol="0" anchor="t"/>
          <a:lstStyle/>
          <a:p>
            <a:pPr marL="285750" indent="-285750" algn="l">
              <a:lnSpc>
                <a:spcPts val="2850"/>
              </a:lnSpc>
              <a:buFont typeface="Wingdings" panose="05000000000000000000" pitchFamily="2" charset="2"/>
              <a:buChar char="v"/>
            </a:pPr>
            <a:r>
              <a:rPr lang="en-US" sz="1750" dirty="0">
                <a:solidFill>
                  <a:srgbClr val="272525"/>
                </a:solidFill>
                <a:latin typeface="Lato" pitchFamily="34" charset="0"/>
                <a:ea typeface="Lato" pitchFamily="34" charset="-122"/>
                <a:cs typeface="Lato" pitchFamily="34" charset="-120"/>
              </a:rPr>
              <a:t>What is credit card fraud, and why is it a growing concern?</a:t>
            </a:r>
            <a:endParaRPr lang="en-US" sz="1750" dirty="0"/>
          </a:p>
        </p:txBody>
      </p:sp>
      <p:sp>
        <p:nvSpPr>
          <p:cNvPr id="5" name="Text 2"/>
          <p:cNvSpPr/>
          <p:nvPr/>
        </p:nvSpPr>
        <p:spPr>
          <a:xfrm>
            <a:off x="6280190" y="2858810"/>
            <a:ext cx="7556421" cy="362903"/>
          </a:xfrm>
          <a:prstGeom prst="rect">
            <a:avLst/>
          </a:prstGeom>
          <a:noFill/>
          <a:ln/>
        </p:spPr>
        <p:txBody>
          <a:bodyPr wrap="none" lIns="0" tIns="0" rIns="0" bIns="0" rtlCol="0" anchor="t"/>
          <a:lstStyle/>
          <a:p>
            <a:pPr marL="742950" lvl="1" indent="-285750">
              <a:lnSpc>
                <a:spcPts val="2850"/>
              </a:lnSpc>
              <a:buFont typeface="Wingdings" panose="05000000000000000000" pitchFamily="2" charset="2"/>
              <a:buChar char="Ø"/>
            </a:pPr>
            <a:r>
              <a:rPr lang="en-US" sz="1750" dirty="0">
                <a:solidFill>
                  <a:srgbClr val="272525"/>
                </a:solidFill>
                <a:latin typeface="Lato" pitchFamily="34" charset="0"/>
                <a:ea typeface="Lato" pitchFamily="34" charset="-122"/>
                <a:cs typeface="Lato" pitchFamily="34" charset="-120"/>
              </a:rPr>
              <a:t>projected to reach $40 billion by 2027 (Nilson Report, 2022)</a:t>
            </a:r>
            <a:endParaRPr lang="en-US" sz="1750" dirty="0"/>
          </a:p>
        </p:txBody>
      </p:sp>
      <p:sp>
        <p:nvSpPr>
          <p:cNvPr id="7" name="Text 4"/>
          <p:cNvSpPr/>
          <p:nvPr/>
        </p:nvSpPr>
        <p:spPr>
          <a:xfrm>
            <a:off x="6280189" y="3604438"/>
            <a:ext cx="7556421" cy="362903"/>
          </a:xfrm>
          <a:prstGeom prst="rect">
            <a:avLst/>
          </a:prstGeom>
          <a:noFill/>
          <a:ln/>
        </p:spPr>
        <p:txBody>
          <a:bodyPr wrap="none" lIns="0" tIns="0" rIns="0" bIns="0" rtlCol="0" anchor="t"/>
          <a:lstStyle/>
          <a:p>
            <a:pPr marL="285750" indent="-285750" algn="l">
              <a:lnSpc>
                <a:spcPts val="2850"/>
              </a:lnSpc>
              <a:buFont typeface="Wingdings" panose="05000000000000000000" pitchFamily="2" charset="2"/>
              <a:buChar char="v"/>
            </a:pPr>
            <a:r>
              <a:rPr lang="en-US" sz="1750" dirty="0">
                <a:solidFill>
                  <a:srgbClr val="272525"/>
                </a:solidFill>
                <a:latin typeface="Lato" pitchFamily="34" charset="0"/>
                <a:ea typeface="Lato" pitchFamily="34" charset="-122"/>
                <a:cs typeface="Lato" pitchFamily="34" charset="-120"/>
              </a:rPr>
              <a:t>Why is detecting credit card fraud so challenging?</a:t>
            </a:r>
            <a:endParaRPr lang="en-US" sz="1750" dirty="0"/>
          </a:p>
        </p:txBody>
      </p:sp>
      <p:sp>
        <p:nvSpPr>
          <p:cNvPr id="8" name="Text 5"/>
          <p:cNvSpPr/>
          <p:nvPr/>
        </p:nvSpPr>
        <p:spPr>
          <a:xfrm>
            <a:off x="6280188" y="4307502"/>
            <a:ext cx="7556421" cy="1088708"/>
          </a:xfrm>
          <a:prstGeom prst="rect">
            <a:avLst/>
          </a:prstGeom>
          <a:noFill/>
          <a:ln/>
        </p:spPr>
        <p:txBody>
          <a:bodyPr wrap="square" lIns="0" tIns="0" rIns="0" bIns="0" rtlCol="0" anchor="t"/>
          <a:lstStyle/>
          <a:p>
            <a:pPr marL="742950" lvl="1" indent="-285750">
              <a:lnSpc>
                <a:spcPts val="2850"/>
              </a:lnSpc>
              <a:buFont typeface="Wingdings" panose="05000000000000000000" pitchFamily="2" charset="2"/>
              <a:buChar char="Ø"/>
            </a:pPr>
            <a:r>
              <a:rPr lang="en-US" sz="1750" dirty="0">
                <a:solidFill>
                  <a:srgbClr val="272525"/>
                </a:solidFill>
                <a:latin typeface="Lato" pitchFamily="34" charset="0"/>
                <a:ea typeface="Lato" pitchFamily="34" charset="-122"/>
                <a:cs typeface="Lato" pitchFamily="34" charset="-120"/>
              </a:rPr>
              <a:t>class imbalance (European Credit Card Fraud Dataset as an example, where only 0.172% of 284,807 transactions are fraudulent) and computational constraints. </a:t>
            </a:r>
            <a:endParaRPr lang="en-US" sz="1750" dirty="0"/>
          </a:p>
        </p:txBody>
      </p:sp>
      <p:sp>
        <p:nvSpPr>
          <p:cNvPr id="9" name="Text 6"/>
          <p:cNvSpPr/>
          <p:nvPr/>
        </p:nvSpPr>
        <p:spPr>
          <a:xfrm>
            <a:off x="6280190" y="5628620"/>
            <a:ext cx="7556421" cy="362903"/>
          </a:xfrm>
          <a:prstGeom prst="rect">
            <a:avLst/>
          </a:prstGeom>
          <a:noFill/>
          <a:ln/>
        </p:spPr>
        <p:txBody>
          <a:bodyPr wrap="none" lIns="0" tIns="0" rIns="0" bIns="0" rtlCol="0" anchor="t"/>
          <a:lstStyle/>
          <a:p>
            <a:pPr marL="285750" indent="-285750" algn="l">
              <a:lnSpc>
                <a:spcPts val="2850"/>
              </a:lnSpc>
              <a:buFont typeface="Wingdings" panose="05000000000000000000" pitchFamily="2" charset="2"/>
              <a:buChar char="v"/>
            </a:pPr>
            <a:r>
              <a:rPr lang="en-US" sz="1750" dirty="0">
                <a:solidFill>
                  <a:srgbClr val="272525"/>
                </a:solidFill>
                <a:latin typeface="Lato" pitchFamily="34" charset="0"/>
                <a:ea typeface="Lato" pitchFamily="34" charset="-122"/>
                <a:cs typeface="Lato" pitchFamily="34" charset="-120"/>
              </a:rPr>
              <a:t>How can we improve fraud detection in real-world settings?</a:t>
            </a:r>
            <a:endParaRPr lang="en-US" sz="1750" dirty="0"/>
          </a:p>
        </p:txBody>
      </p:sp>
      <p:sp>
        <p:nvSpPr>
          <p:cNvPr id="10" name="Text 7"/>
          <p:cNvSpPr/>
          <p:nvPr/>
        </p:nvSpPr>
        <p:spPr>
          <a:xfrm>
            <a:off x="6280190" y="6674882"/>
            <a:ext cx="75564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1" name="Oval 10">
            <a:extLst>
              <a:ext uri="{FF2B5EF4-FFF2-40B4-BE49-F238E27FC236}">
                <a16:creationId xmlns:a16="http://schemas.microsoft.com/office/drawing/2014/main" id="{74A4AA59-C84B-C121-AF29-B40F60CD3117}"/>
              </a:ext>
            </a:extLst>
          </p:cNvPr>
          <p:cNvSpPr/>
          <p:nvPr/>
        </p:nvSpPr>
        <p:spPr>
          <a:xfrm>
            <a:off x="12462380" y="5890596"/>
            <a:ext cx="1579418" cy="1568572"/>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a:effectLst>
            <a:softEdge rad="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E3FAF5-8F27-68B6-2704-6C5928F482A3}"/>
              </a:ext>
            </a:extLst>
          </p:cNvPr>
          <p:cNvSpPr/>
          <p:nvPr/>
        </p:nvSpPr>
        <p:spPr>
          <a:xfrm>
            <a:off x="12711165" y="7752587"/>
            <a:ext cx="1828800" cy="401934"/>
          </a:xfrm>
          <a:prstGeom prst="rect">
            <a:avLst/>
          </a:prstGeom>
          <a:solidFill>
            <a:srgbClr val="FEFEFE"/>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 calcmode="lin" valueType="num">
                                      <p:cBhvr>
                                        <p:cTn id="19"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20"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21"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89345" y="909042"/>
            <a:ext cx="5021223" cy="627578"/>
          </a:xfrm>
          <a:prstGeom prst="rect">
            <a:avLst/>
          </a:prstGeom>
          <a:noFill/>
          <a:ln/>
        </p:spPr>
        <p:txBody>
          <a:bodyPr wrap="none" lIns="0" tIns="0" rIns="0" bIns="0" rtlCol="0" anchor="t"/>
          <a:lstStyle/>
          <a:p>
            <a:pPr marL="0" indent="0" algn="l">
              <a:lnSpc>
                <a:spcPts val="4900"/>
              </a:lnSpc>
              <a:buNone/>
            </a:pPr>
            <a:r>
              <a:rPr lang="en-US" sz="3950" dirty="0">
                <a:solidFill>
                  <a:srgbClr val="312F2B"/>
                </a:solidFill>
                <a:latin typeface="Gelasio" pitchFamily="34" charset="0"/>
                <a:ea typeface="Gelasio" pitchFamily="34" charset="-122"/>
                <a:cs typeface="Gelasio" pitchFamily="34" charset="-120"/>
              </a:rPr>
              <a:t>Aim and Objectives</a:t>
            </a:r>
            <a:endParaRPr lang="en-US" sz="3950" dirty="0"/>
          </a:p>
        </p:txBody>
      </p:sp>
      <p:sp>
        <p:nvSpPr>
          <p:cNvPr id="4" name="Text 1"/>
          <p:cNvSpPr/>
          <p:nvPr/>
        </p:nvSpPr>
        <p:spPr>
          <a:xfrm>
            <a:off x="6189345" y="1837849"/>
            <a:ext cx="7738110" cy="64269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The aim of this study is to design an efficient and accurate credit card fraud detection using machine learning by mitigating class imbalance and optimizing computational performance.</a:t>
            </a:r>
          </a:p>
          <a:p>
            <a:pPr marL="0" indent="0" algn="l">
              <a:lnSpc>
                <a:spcPts val="2500"/>
              </a:lnSpc>
              <a:buNone/>
            </a:pPr>
            <a:endParaRPr lang="en-US" sz="1550" dirty="0"/>
          </a:p>
        </p:txBody>
      </p:sp>
      <p:sp>
        <p:nvSpPr>
          <p:cNvPr id="5" name="Shape 2"/>
          <p:cNvSpPr/>
          <p:nvPr/>
        </p:nvSpPr>
        <p:spPr>
          <a:xfrm>
            <a:off x="6189345" y="2992852"/>
            <a:ext cx="451842" cy="451842"/>
          </a:xfrm>
          <a:prstGeom prst="roundRect">
            <a:avLst>
              <a:gd name="adj" fmla="val 18670"/>
            </a:avLst>
          </a:prstGeom>
          <a:solidFill>
            <a:srgbClr val="E8E8E3"/>
          </a:solidFill>
          <a:ln w="7620">
            <a:solidFill>
              <a:srgbClr val="CECEC9"/>
            </a:solidFill>
            <a:prstDash val="solid"/>
          </a:ln>
        </p:spPr>
        <p:txBody>
          <a:bodyPr/>
          <a:lstStyle/>
          <a:p>
            <a:endParaRPr lang="en-GB"/>
          </a:p>
        </p:txBody>
      </p:sp>
      <p:sp>
        <p:nvSpPr>
          <p:cNvPr id="6" name="Text 3"/>
          <p:cNvSpPr/>
          <p:nvPr/>
        </p:nvSpPr>
        <p:spPr>
          <a:xfrm>
            <a:off x="6264593" y="3030416"/>
            <a:ext cx="301228" cy="376595"/>
          </a:xfrm>
          <a:prstGeom prst="rect">
            <a:avLst/>
          </a:prstGeom>
          <a:noFill/>
          <a:ln/>
        </p:spPr>
        <p:txBody>
          <a:bodyPr wrap="none" lIns="0" tIns="0" rIns="0" bIns="0" rtlCol="0" anchor="t"/>
          <a:lstStyle/>
          <a:p>
            <a:pPr marL="0" indent="0" algn="ctr">
              <a:lnSpc>
                <a:spcPts val="2350"/>
              </a:lnSpc>
              <a:buNone/>
            </a:pPr>
            <a:r>
              <a:rPr lang="en-US" sz="2350" dirty="0">
                <a:solidFill>
                  <a:srgbClr val="272525"/>
                </a:solidFill>
                <a:latin typeface="Gelasio" pitchFamily="34" charset="0"/>
                <a:ea typeface="Gelasio" pitchFamily="34" charset="-122"/>
                <a:cs typeface="Gelasio" pitchFamily="34" charset="-120"/>
              </a:rPr>
              <a:t>1</a:t>
            </a:r>
            <a:endParaRPr lang="en-US" sz="2350" dirty="0"/>
          </a:p>
        </p:txBody>
      </p:sp>
      <p:sp>
        <p:nvSpPr>
          <p:cNvPr id="7" name="Text 4"/>
          <p:cNvSpPr/>
          <p:nvPr/>
        </p:nvSpPr>
        <p:spPr>
          <a:xfrm>
            <a:off x="6841927" y="3061789"/>
            <a:ext cx="2762964" cy="313849"/>
          </a:xfrm>
          <a:prstGeom prst="rect">
            <a:avLst/>
          </a:prstGeom>
          <a:noFill/>
          <a:ln/>
        </p:spPr>
        <p:txBody>
          <a:bodyPr wrap="none" lIns="0" tIns="0" rIns="0" bIns="0" rtlCol="0" anchor="t"/>
          <a:lstStyle/>
          <a:p>
            <a:pPr marL="0" indent="0" algn="l">
              <a:lnSpc>
                <a:spcPts val="2450"/>
              </a:lnSpc>
              <a:buNone/>
            </a:pPr>
            <a:r>
              <a:rPr lang="en-US" sz="1950" dirty="0">
                <a:solidFill>
                  <a:srgbClr val="272525"/>
                </a:solidFill>
                <a:latin typeface="Gelasio" pitchFamily="34" charset="0"/>
                <a:ea typeface="Gelasio" pitchFamily="34" charset="-122"/>
                <a:cs typeface="Gelasio" pitchFamily="34" charset="-120"/>
              </a:rPr>
              <a:t>Address Class Imbalance</a:t>
            </a:r>
            <a:endParaRPr lang="en-US" sz="1950" dirty="0"/>
          </a:p>
        </p:txBody>
      </p:sp>
      <p:sp>
        <p:nvSpPr>
          <p:cNvPr id="8" name="Text 5"/>
          <p:cNvSpPr/>
          <p:nvPr/>
        </p:nvSpPr>
        <p:spPr>
          <a:xfrm>
            <a:off x="6841927" y="3496129"/>
            <a:ext cx="3090982" cy="19280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To apply Synthetic Minority Over-sampling Technique (SMOTE) to balance the dataset. Compare SMOTE with baseline models to evaluate its impact on precision, recall, and F1-score.</a:t>
            </a:r>
            <a:endParaRPr lang="en-US" sz="1550" dirty="0"/>
          </a:p>
        </p:txBody>
      </p:sp>
      <p:sp>
        <p:nvSpPr>
          <p:cNvPr id="9" name="Shape 6"/>
          <p:cNvSpPr/>
          <p:nvPr/>
        </p:nvSpPr>
        <p:spPr>
          <a:xfrm>
            <a:off x="10183892" y="2992852"/>
            <a:ext cx="451842" cy="451842"/>
          </a:xfrm>
          <a:prstGeom prst="roundRect">
            <a:avLst>
              <a:gd name="adj" fmla="val 18670"/>
            </a:avLst>
          </a:prstGeom>
          <a:solidFill>
            <a:srgbClr val="E8E8E3"/>
          </a:solidFill>
          <a:ln w="7620">
            <a:solidFill>
              <a:srgbClr val="CECEC9"/>
            </a:solidFill>
            <a:prstDash val="solid"/>
          </a:ln>
        </p:spPr>
        <p:txBody>
          <a:bodyPr/>
          <a:lstStyle/>
          <a:p>
            <a:endParaRPr lang="en-GB"/>
          </a:p>
        </p:txBody>
      </p:sp>
      <p:sp>
        <p:nvSpPr>
          <p:cNvPr id="10" name="Text 7"/>
          <p:cNvSpPr/>
          <p:nvPr/>
        </p:nvSpPr>
        <p:spPr>
          <a:xfrm>
            <a:off x="10259139" y="3030416"/>
            <a:ext cx="301228" cy="376595"/>
          </a:xfrm>
          <a:prstGeom prst="rect">
            <a:avLst/>
          </a:prstGeom>
          <a:noFill/>
          <a:ln/>
        </p:spPr>
        <p:txBody>
          <a:bodyPr wrap="none" lIns="0" tIns="0" rIns="0" bIns="0" rtlCol="0" anchor="t"/>
          <a:lstStyle/>
          <a:p>
            <a:pPr marL="0" indent="0" algn="ctr">
              <a:lnSpc>
                <a:spcPts val="2350"/>
              </a:lnSpc>
              <a:buNone/>
            </a:pPr>
            <a:r>
              <a:rPr lang="en-US" sz="2350" dirty="0">
                <a:solidFill>
                  <a:srgbClr val="272525"/>
                </a:solidFill>
                <a:latin typeface="Gelasio" pitchFamily="34" charset="0"/>
                <a:ea typeface="Gelasio" pitchFamily="34" charset="-122"/>
                <a:cs typeface="Gelasio" pitchFamily="34" charset="-120"/>
              </a:rPr>
              <a:t>2</a:t>
            </a:r>
            <a:endParaRPr lang="en-US" sz="2350" dirty="0"/>
          </a:p>
        </p:txBody>
      </p:sp>
      <p:sp>
        <p:nvSpPr>
          <p:cNvPr id="11" name="Text 8"/>
          <p:cNvSpPr/>
          <p:nvPr/>
        </p:nvSpPr>
        <p:spPr>
          <a:xfrm>
            <a:off x="10836473" y="2994784"/>
            <a:ext cx="3090982" cy="627698"/>
          </a:xfrm>
          <a:prstGeom prst="rect">
            <a:avLst/>
          </a:prstGeom>
          <a:noFill/>
          <a:ln/>
        </p:spPr>
        <p:txBody>
          <a:bodyPr wrap="square" lIns="0" tIns="0" rIns="0" bIns="0" rtlCol="0" anchor="t"/>
          <a:lstStyle/>
          <a:p>
            <a:pPr marL="0" indent="0" algn="l">
              <a:lnSpc>
                <a:spcPts val="2450"/>
              </a:lnSpc>
              <a:buNone/>
            </a:pPr>
            <a:r>
              <a:rPr lang="en-US" sz="1950" dirty="0">
                <a:solidFill>
                  <a:srgbClr val="272525"/>
                </a:solidFill>
                <a:latin typeface="Gelasio" pitchFamily="34" charset="0"/>
                <a:ea typeface="Gelasio" pitchFamily="34" charset="-122"/>
                <a:cs typeface="Gelasio" pitchFamily="34" charset="-120"/>
              </a:rPr>
              <a:t>Reduce Computational Complexity</a:t>
            </a:r>
            <a:endParaRPr lang="en-US" sz="1950" dirty="0"/>
          </a:p>
        </p:txBody>
      </p:sp>
      <p:sp>
        <p:nvSpPr>
          <p:cNvPr id="12" name="Text 9"/>
          <p:cNvSpPr/>
          <p:nvPr/>
        </p:nvSpPr>
        <p:spPr>
          <a:xfrm>
            <a:off x="10836473" y="3622482"/>
            <a:ext cx="3090982" cy="19280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To implement a lightweight machine learning model and compare its efficiency against complex models. Optimize feature selection to reduce dimensionality and improve model speed.</a:t>
            </a:r>
            <a:endParaRPr lang="en-US" sz="1550" dirty="0"/>
          </a:p>
        </p:txBody>
      </p:sp>
      <p:sp>
        <p:nvSpPr>
          <p:cNvPr id="13" name="Shape 10"/>
          <p:cNvSpPr/>
          <p:nvPr/>
        </p:nvSpPr>
        <p:spPr>
          <a:xfrm>
            <a:off x="6189345" y="5853232"/>
            <a:ext cx="451842" cy="451842"/>
          </a:xfrm>
          <a:prstGeom prst="roundRect">
            <a:avLst>
              <a:gd name="adj" fmla="val 18670"/>
            </a:avLst>
          </a:prstGeom>
          <a:solidFill>
            <a:srgbClr val="E8E8E3"/>
          </a:solidFill>
          <a:ln w="7620">
            <a:solidFill>
              <a:srgbClr val="CECEC9"/>
            </a:solidFill>
            <a:prstDash val="solid"/>
          </a:ln>
        </p:spPr>
        <p:txBody>
          <a:bodyPr/>
          <a:lstStyle/>
          <a:p>
            <a:endParaRPr lang="en-GB"/>
          </a:p>
        </p:txBody>
      </p:sp>
      <p:sp>
        <p:nvSpPr>
          <p:cNvPr id="14" name="Text 11"/>
          <p:cNvSpPr/>
          <p:nvPr/>
        </p:nvSpPr>
        <p:spPr>
          <a:xfrm>
            <a:off x="6264593" y="5890796"/>
            <a:ext cx="301228" cy="376595"/>
          </a:xfrm>
          <a:prstGeom prst="rect">
            <a:avLst/>
          </a:prstGeom>
          <a:noFill/>
          <a:ln/>
        </p:spPr>
        <p:txBody>
          <a:bodyPr wrap="none" lIns="0" tIns="0" rIns="0" bIns="0" rtlCol="0" anchor="t"/>
          <a:lstStyle/>
          <a:p>
            <a:pPr marL="0" indent="0" algn="ctr">
              <a:lnSpc>
                <a:spcPts val="2350"/>
              </a:lnSpc>
              <a:buNone/>
            </a:pPr>
            <a:r>
              <a:rPr lang="en-US" sz="2350" dirty="0">
                <a:solidFill>
                  <a:srgbClr val="272525"/>
                </a:solidFill>
                <a:latin typeface="Gelasio" pitchFamily="34" charset="0"/>
                <a:ea typeface="Gelasio" pitchFamily="34" charset="-122"/>
                <a:cs typeface="Gelasio" pitchFamily="34" charset="-120"/>
              </a:rPr>
              <a:t>3</a:t>
            </a:r>
            <a:endParaRPr lang="en-US" sz="2350" dirty="0"/>
          </a:p>
        </p:txBody>
      </p:sp>
      <p:sp>
        <p:nvSpPr>
          <p:cNvPr id="15" name="Text 12"/>
          <p:cNvSpPr/>
          <p:nvPr/>
        </p:nvSpPr>
        <p:spPr>
          <a:xfrm>
            <a:off x="6841927" y="5922169"/>
            <a:ext cx="3397448" cy="313849"/>
          </a:xfrm>
          <a:prstGeom prst="rect">
            <a:avLst/>
          </a:prstGeom>
          <a:noFill/>
          <a:ln/>
        </p:spPr>
        <p:txBody>
          <a:bodyPr wrap="none" lIns="0" tIns="0" rIns="0" bIns="0" rtlCol="0" anchor="t"/>
          <a:lstStyle/>
          <a:p>
            <a:pPr marL="0" indent="0" algn="l">
              <a:lnSpc>
                <a:spcPts val="2450"/>
              </a:lnSpc>
              <a:buNone/>
            </a:pPr>
            <a:r>
              <a:rPr lang="en-US" sz="1950" dirty="0">
                <a:solidFill>
                  <a:srgbClr val="272525"/>
                </a:solidFill>
                <a:latin typeface="Gelasio" pitchFamily="34" charset="0"/>
                <a:ea typeface="Gelasio" pitchFamily="34" charset="-122"/>
                <a:cs typeface="Gelasio" pitchFamily="34" charset="-120"/>
              </a:rPr>
              <a:t>Evaluate Real-Time Feasibility</a:t>
            </a:r>
            <a:endParaRPr lang="en-US" sz="1950" dirty="0"/>
          </a:p>
        </p:txBody>
      </p:sp>
      <p:sp>
        <p:nvSpPr>
          <p:cNvPr id="16" name="Text 13"/>
          <p:cNvSpPr/>
          <p:nvPr/>
        </p:nvSpPr>
        <p:spPr>
          <a:xfrm>
            <a:off x="6841927" y="6356509"/>
            <a:ext cx="7085528" cy="96404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To benchmark the proposed model’s latency and scalability on large transaction datasets. Ensure the solution is viable for deployment in real-world financial systems by testing its performance under simulated real-time conditions.</a:t>
            </a:r>
            <a:endParaRPr lang="en-US" sz="1550" dirty="0"/>
          </a:p>
        </p:txBody>
      </p:sp>
      <p:sp>
        <p:nvSpPr>
          <p:cNvPr id="17" name="Rectangle 16">
            <a:extLst>
              <a:ext uri="{FF2B5EF4-FFF2-40B4-BE49-F238E27FC236}">
                <a16:creationId xmlns:a16="http://schemas.microsoft.com/office/drawing/2014/main" id="{0B11C276-E8B4-BC99-6703-61142A4926F2}"/>
              </a:ext>
            </a:extLst>
          </p:cNvPr>
          <p:cNvSpPr/>
          <p:nvPr/>
        </p:nvSpPr>
        <p:spPr>
          <a:xfrm>
            <a:off x="12711165" y="7752587"/>
            <a:ext cx="1828800" cy="401934"/>
          </a:xfrm>
          <a:prstGeom prst="rect">
            <a:avLst/>
          </a:prstGeom>
          <a:solidFill>
            <a:srgbClr val="FEFEFE"/>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1000"/>
                                        <p:tgtEl>
                                          <p:spTgt spid="16"/>
                                        </p:tgtEl>
                                      </p:cBhvr>
                                    </p:animEffect>
                                    <p:anim calcmode="lin" valueType="num">
                                      <p:cBhvr>
                                        <p:cTn id="29" dur="1000" fill="hold"/>
                                        <p:tgtEl>
                                          <p:spTgt spid="16"/>
                                        </p:tgtEl>
                                        <p:attrNameLst>
                                          <p:attrName>ppt_x</p:attrName>
                                        </p:attrNameLst>
                                      </p:cBhvr>
                                      <p:tavLst>
                                        <p:tav tm="0">
                                          <p:val>
                                            <p:strVal val="#ppt_x"/>
                                          </p:val>
                                        </p:tav>
                                        <p:tav tm="100000">
                                          <p:val>
                                            <p:strVal val="#ppt_x"/>
                                          </p:val>
                                        </p:tav>
                                      </p:tavLst>
                                    </p:anim>
                                    <p:anim calcmode="lin" valueType="num">
                                      <p:cBhvr>
                                        <p:cTn id="3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73237"/>
            <a:ext cx="7059573" cy="708779"/>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SMOTE for Class Imbalance</a:t>
            </a:r>
            <a:endParaRPr lang="en-US" sz="4450" dirty="0"/>
          </a:p>
        </p:txBody>
      </p:sp>
      <p:sp>
        <p:nvSpPr>
          <p:cNvPr id="3" name="Text 1"/>
          <p:cNvSpPr/>
          <p:nvPr/>
        </p:nvSpPr>
        <p:spPr>
          <a:xfrm>
            <a:off x="793789" y="2072716"/>
            <a:ext cx="13042821" cy="1088708"/>
          </a:xfrm>
          <a:prstGeom prst="rect">
            <a:avLst/>
          </a:prstGeom>
          <a:noFill/>
          <a:ln/>
        </p:spPr>
        <p:txBody>
          <a:bodyPr wrap="square" lIns="0" tIns="0" rIns="0" bIns="0" rtlCol="0" anchor="t"/>
          <a:lstStyle/>
          <a:p>
            <a:pPr marL="285750" indent="-285750" algn="l">
              <a:lnSpc>
                <a:spcPts val="2850"/>
              </a:lnSpc>
              <a:buFont typeface="Wingdings" panose="05000000000000000000" pitchFamily="2" charset="2"/>
              <a:buChar char="v"/>
            </a:pPr>
            <a:r>
              <a:rPr lang="en-US" sz="1750" dirty="0">
                <a:solidFill>
                  <a:srgbClr val="272525"/>
                </a:solidFill>
                <a:latin typeface="Lato" pitchFamily="34" charset="0"/>
                <a:ea typeface="Lato" pitchFamily="34" charset="-122"/>
                <a:cs typeface="Lato" pitchFamily="34" charset="-120"/>
              </a:rPr>
              <a:t>One of the primary challenges in credit card fraud detection is the significant class imbalance, where legitimate transactions far outnumber fraudulent ones. Addressing this imbalance is crucial for building effective models. By using SMOTE</a:t>
            </a:r>
            <a:r>
              <a:rPr lang="en-US" sz="1750">
                <a:solidFill>
                  <a:srgbClr val="272525"/>
                </a:solidFill>
                <a:latin typeface="Lato" pitchFamily="34" charset="0"/>
                <a:ea typeface="Lato" pitchFamily="34" charset="-122"/>
                <a:cs typeface="Lato" pitchFamily="34" charset="-120"/>
              </a:rPr>
              <a:t>, this study aims </a:t>
            </a:r>
            <a:r>
              <a:rPr lang="en-US" sz="1750" dirty="0">
                <a:solidFill>
                  <a:srgbClr val="272525"/>
                </a:solidFill>
                <a:latin typeface="Lato" pitchFamily="34" charset="0"/>
                <a:ea typeface="Lato" pitchFamily="34" charset="-122"/>
                <a:cs typeface="Lato" pitchFamily="34" charset="-120"/>
              </a:rPr>
              <a:t>to create a balanced dataset that allows the machine learning model to learn more effectively from the minority class.</a:t>
            </a:r>
            <a:endParaRPr lang="en-US" sz="1750" dirty="0"/>
          </a:p>
        </p:txBody>
      </p:sp>
      <p:sp>
        <p:nvSpPr>
          <p:cNvPr id="4" name="Text 2"/>
          <p:cNvSpPr/>
          <p:nvPr/>
        </p:nvSpPr>
        <p:spPr>
          <a:xfrm>
            <a:off x="793789" y="6979198"/>
            <a:ext cx="6025651" cy="354330"/>
          </a:xfrm>
          <a:prstGeom prst="rect">
            <a:avLst/>
          </a:prstGeom>
          <a:noFill/>
          <a:ln/>
        </p:spPr>
        <p:txBody>
          <a:bodyPr wrap="none" lIns="0" tIns="0" rIns="0" bIns="0" rtlCol="0" anchor="t"/>
          <a:lstStyle/>
          <a:p>
            <a:pPr marL="342900" indent="-342900" algn="l">
              <a:lnSpc>
                <a:spcPts val="2750"/>
              </a:lnSpc>
              <a:buFont typeface="Wingdings" panose="05000000000000000000" pitchFamily="2" charset="2"/>
              <a:buChar char="v"/>
            </a:pPr>
            <a:r>
              <a:rPr lang="en-US" sz="2200" dirty="0">
                <a:solidFill>
                  <a:srgbClr val="312F2B"/>
                </a:solidFill>
                <a:latin typeface="Gelasio" pitchFamily="34" charset="0"/>
                <a:ea typeface="Gelasio" pitchFamily="34" charset="-122"/>
                <a:cs typeface="Gelasio" pitchFamily="34" charset="-120"/>
              </a:rPr>
              <a:t>How does SMOTE help address class imbalance?</a:t>
            </a:r>
            <a:endParaRPr lang="en-US" sz="2200" dirty="0"/>
          </a:p>
        </p:txBody>
      </p:sp>
      <p:sp>
        <p:nvSpPr>
          <p:cNvPr id="16" name="Rectangle: Rounded Corners 15">
            <a:extLst>
              <a:ext uri="{FF2B5EF4-FFF2-40B4-BE49-F238E27FC236}">
                <a16:creationId xmlns:a16="http://schemas.microsoft.com/office/drawing/2014/main" id="{D706F38F-5839-71E1-21F6-A97A763C87B2}"/>
              </a:ext>
            </a:extLst>
          </p:cNvPr>
          <p:cNvSpPr/>
          <p:nvPr/>
        </p:nvSpPr>
        <p:spPr>
          <a:xfrm>
            <a:off x="5706736" y="3358794"/>
            <a:ext cx="3216925" cy="3218276"/>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3DB0B11-68D4-BA7E-AAA1-047454E766DC}"/>
              </a:ext>
            </a:extLst>
          </p:cNvPr>
          <p:cNvSpPr/>
          <p:nvPr/>
        </p:nvSpPr>
        <p:spPr>
          <a:xfrm>
            <a:off x="12711165" y="7752587"/>
            <a:ext cx="1828800" cy="401934"/>
          </a:xfrm>
          <a:prstGeom prst="rect">
            <a:avLst/>
          </a:prstGeom>
          <a:solidFill>
            <a:srgbClr val="FEFEFE"/>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21" presetClass="entr" presetSubtype="1"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heel(1)">
                                      <p:cBhvr>
                                        <p:cTn id="19"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93790" y="986314"/>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Lightweight Models for Efficiency</a:t>
            </a:r>
            <a:endParaRPr lang="en-US" sz="4450" dirty="0"/>
          </a:p>
        </p:txBody>
      </p:sp>
      <p:sp>
        <p:nvSpPr>
          <p:cNvPr id="4" name="Text 1"/>
          <p:cNvSpPr/>
          <p:nvPr/>
        </p:nvSpPr>
        <p:spPr>
          <a:xfrm>
            <a:off x="793790" y="2744033"/>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To address the computational complexity of fraud detection, lightweight models offer a promising solution. These models can provide a balance between accuracy and speed, making them suitable for real-time deployment in financial systems. Examples include Logistic Regression, Decision Trees, and pruned Neural Networks.</a:t>
            </a:r>
            <a:endParaRPr lang="en-US" sz="1750" dirty="0"/>
          </a:p>
        </p:txBody>
      </p:sp>
      <p:pic>
        <p:nvPicPr>
          <p:cNvPr id="5" name="Image 1" descr="preencoded.png"/>
          <p:cNvPicPr>
            <a:picLocks noChangeAspect="1"/>
          </p:cNvPicPr>
          <p:nvPr/>
        </p:nvPicPr>
        <p:blipFill>
          <a:blip r:embed="rId3"/>
          <a:stretch>
            <a:fillRect/>
          </a:stretch>
        </p:blipFill>
        <p:spPr>
          <a:xfrm>
            <a:off x="793790" y="4813697"/>
            <a:ext cx="566976" cy="566976"/>
          </a:xfrm>
          <a:prstGeom prst="rect">
            <a:avLst/>
          </a:prstGeom>
        </p:spPr>
      </p:pic>
      <p:sp>
        <p:nvSpPr>
          <p:cNvPr id="6" name="Text 2"/>
          <p:cNvSpPr/>
          <p:nvPr/>
        </p:nvSpPr>
        <p:spPr>
          <a:xfrm>
            <a:off x="1644253" y="494835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Faster Processing</a:t>
            </a:r>
            <a:endParaRPr lang="en-US" sz="2200" dirty="0"/>
          </a:p>
        </p:txBody>
      </p:sp>
      <p:sp>
        <p:nvSpPr>
          <p:cNvPr id="7" name="Text 3"/>
          <p:cNvSpPr/>
          <p:nvPr/>
        </p:nvSpPr>
        <p:spPr>
          <a:xfrm>
            <a:off x="1644253" y="5438775"/>
            <a:ext cx="6705957"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Reduced training and inference times.</a:t>
            </a:r>
            <a:endParaRPr lang="en-US" sz="1750" dirty="0"/>
          </a:p>
        </p:txBody>
      </p:sp>
      <p:pic>
        <p:nvPicPr>
          <p:cNvPr id="8" name="Image 2" descr="preencoded.png"/>
          <p:cNvPicPr>
            <a:picLocks noChangeAspect="1"/>
          </p:cNvPicPr>
          <p:nvPr/>
        </p:nvPicPr>
        <p:blipFill>
          <a:blip r:embed="rId4"/>
          <a:stretch>
            <a:fillRect/>
          </a:stretch>
        </p:blipFill>
        <p:spPr>
          <a:xfrm>
            <a:off x="793790" y="6255306"/>
            <a:ext cx="566976" cy="566976"/>
          </a:xfrm>
          <a:prstGeom prst="rect">
            <a:avLst/>
          </a:prstGeom>
        </p:spPr>
      </p:pic>
      <p:sp>
        <p:nvSpPr>
          <p:cNvPr id="9" name="Text 4"/>
          <p:cNvSpPr/>
          <p:nvPr/>
        </p:nvSpPr>
        <p:spPr>
          <a:xfrm>
            <a:off x="1644253" y="638996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Lower Overhead</a:t>
            </a:r>
            <a:endParaRPr lang="en-US" sz="2200" dirty="0"/>
          </a:p>
        </p:txBody>
      </p:sp>
      <p:sp>
        <p:nvSpPr>
          <p:cNvPr id="10" name="Text 5"/>
          <p:cNvSpPr/>
          <p:nvPr/>
        </p:nvSpPr>
        <p:spPr>
          <a:xfrm>
            <a:off x="1644253" y="6880384"/>
            <a:ext cx="6705957"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Less computational resources required.</a:t>
            </a:r>
            <a:endParaRPr lang="en-US" sz="1750" dirty="0"/>
          </a:p>
        </p:txBody>
      </p:sp>
      <p:pic>
        <p:nvPicPr>
          <p:cNvPr id="12" name="Image 0" descr="preencoded.png">
            <a:extLst>
              <a:ext uri="{FF2B5EF4-FFF2-40B4-BE49-F238E27FC236}">
                <a16:creationId xmlns:a16="http://schemas.microsoft.com/office/drawing/2014/main" id="{F42DABA4-6D8A-7265-C8D5-7A3DFE1DABB8}"/>
              </a:ext>
            </a:extLst>
          </p:cNvPr>
          <p:cNvPicPr>
            <a:picLocks noChangeAspect="1"/>
          </p:cNvPicPr>
          <p:nvPr/>
        </p:nvPicPr>
        <p:blipFill>
          <a:blip r:embed="rId5"/>
          <a:stretch>
            <a:fillRect/>
          </a:stretch>
        </p:blipFill>
        <p:spPr>
          <a:xfrm>
            <a:off x="8633697" y="0"/>
            <a:ext cx="5996703" cy="822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81420"/>
            <a:ext cx="7933849" cy="708779"/>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Related Studies and Inspiration</a:t>
            </a:r>
            <a:endParaRPr lang="en-US" sz="4450" dirty="0"/>
          </a:p>
        </p:txBody>
      </p:sp>
      <p:sp>
        <p:nvSpPr>
          <p:cNvPr id="3" name="Text 1"/>
          <p:cNvSpPr/>
          <p:nvPr/>
        </p:nvSpPr>
        <p:spPr>
          <a:xfrm>
            <a:off x="793790" y="2043827"/>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Several studies have inspired our hybrid approach, each with its own strengths and limitations. These studies have informed our choices in model selection, feature engineering, and performance optimization.</a:t>
            </a:r>
            <a:endParaRPr lang="en-US" sz="1750" dirty="0"/>
          </a:p>
        </p:txBody>
      </p:sp>
      <p:sp>
        <p:nvSpPr>
          <p:cNvPr id="4" name="Text 2"/>
          <p:cNvSpPr/>
          <p:nvPr/>
        </p:nvSpPr>
        <p:spPr>
          <a:xfrm>
            <a:off x="793790" y="325159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12F2B"/>
                </a:solidFill>
                <a:latin typeface="Gelasio" pitchFamily="34" charset="0"/>
                <a:ea typeface="Gelasio" pitchFamily="34" charset="-122"/>
                <a:cs typeface="Gelasio" pitchFamily="34" charset="-120"/>
              </a:rPr>
              <a:t>Vardhani et al. (2024)</a:t>
            </a:r>
            <a:endParaRPr lang="en-US" sz="2200" dirty="0"/>
          </a:p>
        </p:txBody>
      </p:sp>
      <p:sp>
        <p:nvSpPr>
          <p:cNvPr id="5" name="Text 3"/>
          <p:cNvSpPr/>
          <p:nvPr/>
        </p:nvSpPr>
        <p:spPr>
          <a:xfrm>
            <a:off x="793790" y="3832741"/>
            <a:ext cx="397811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a. </a:t>
            </a:r>
            <a:r>
              <a:rPr lang="en-US" sz="1750" i="1" dirty="0">
                <a:solidFill>
                  <a:srgbClr val="272525"/>
                </a:solidFill>
                <a:latin typeface="Lato" pitchFamily="34" charset="0"/>
                <a:ea typeface="Lato" pitchFamily="34" charset="-122"/>
                <a:cs typeface="Lato" pitchFamily="34" charset="-120"/>
              </a:rPr>
              <a:t>Strength:</a:t>
            </a:r>
            <a:r>
              <a:rPr lang="en-US" sz="1750" dirty="0">
                <a:solidFill>
                  <a:srgbClr val="272525"/>
                </a:solidFill>
                <a:latin typeface="Lato" pitchFamily="34" charset="0"/>
                <a:ea typeface="Lato" pitchFamily="34" charset="-122"/>
                <a:cs typeface="Lato" pitchFamily="34" charset="-120"/>
              </a:rPr>
              <a:t> Unprecedented 100% accuracy on benchmark dataset</a:t>
            </a:r>
            <a:endParaRPr lang="en-US" sz="1750" dirty="0"/>
          </a:p>
        </p:txBody>
      </p:sp>
      <p:sp>
        <p:nvSpPr>
          <p:cNvPr id="6" name="Text 4"/>
          <p:cNvSpPr/>
          <p:nvPr/>
        </p:nvSpPr>
        <p:spPr>
          <a:xfrm>
            <a:off x="793790" y="4762619"/>
            <a:ext cx="397811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b. </a:t>
            </a:r>
            <a:r>
              <a:rPr lang="en-US" sz="1750" i="1" dirty="0">
                <a:solidFill>
                  <a:srgbClr val="272525"/>
                </a:solidFill>
                <a:latin typeface="Lato" pitchFamily="34" charset="0"/>
                <a:ea typeface="Lato" pitchFamily="34" charset="-122"/>
                <a:cs typeface="Lato" pitchFamily="34" charset="-120"/>
              </a:rPr>
              <a:t>Limitation:</a:t>
            </a:r>
            <a:r>
              <a:rPr lang="en-US" sz="1750" dirty="0">
                <a:solidFill>
                  <a:srgbClr val="272525"/>
                </a:solidFill>
                <a:latin typeface="Lato" pitchFamily="34" charset="0"/>
                <a:ea typeface="Lato" pitchFamily="34" charset="-122"/>
                <a:cs typeface="Lato" pitchFamily="34" charset="-120"/>
              </a:rPr>
              <a:t> Prohibitively resource-intensive for practical deployment</a:t>
            </a:r>
            <a:endParaRPr lang="en-US" sz="1750" dirty="0"/>
          </a:p>
        </p:txBody>
      </p:sp>
      <p:sp>
        <p:nvSpPr>
          <p:cNvPr id="7" name="Text 5"/>
          <p:cNvSpPr/>
          <p:nvPr/>
        </p:nvSpPr>
        <p:spPr>
          <a:xfrm>
            <a:off x="5332928" y="325159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12F2B"/>
                </a:solidFill>
                <a:latin typeface="Gelasio" pitchFamily="34" charset="0"/>
                <a:ea typeface="Gelasio" pitchFamily="34" charset="-122"/>
                <a:cs typeface="Gelasio" pitchFamily="34" charset="-120"/>
              </a:rPr>
              <a:t>Nalayini et al. (2023)</a:t>
            </a:r>
            <a:endParaRPr lang="en-US" sz="2200" dirty="0"/>
          </a:p>
        </p:txBody>
      </p:sp>
      <p:sp>
        <p:nvSpPr>
          <p:cNvPr id="8" name="Text 6"/>
          <p:cNvSpPr/>
          <p:nvPr/>
        </p:nvSpPr>
        <p:spPr>
          <a:xfrm>
            <a:off x="5332928" y="3832741"/>
            <a:ext cx="397811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CNN-based Fraud Detection.</a:t>
            </a:r>
            <a:endParaRPr lang="en-US" sz="1750" dirty="0"/>
          </a:p>
        </p:txBody>
      </p:sp>
      <p:sp>
        <p:nvSpPr>
          <p:cNvPr id="9" name="Text 7"/>
          <p:cNvSpPr/>
          <p:nvPr/>
        </p:nvSpPr>
        <p:spPr>
          <a:xfrm>
            <a:off x="5332928" y="4399717"/>
            <a:ext cx="3978116"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a. </a:t>
            </a:r>
            <a:r>
              <a:rPr lang="en-US" sz="1750" i="1" dirty="0">
                <a:solidFill>
                  <a:srgbClr val="272525"/>
                </a:solidFill>
                <a:latin typeface="Lato" pitchFamily="34" charset="0"/>
                <a:ea typeface="Lato" pitchFamily="34" charset="-122"/>
                <a:cs typeface="Lato" pitchFamily="34" charset="-120"/>
              </a:rPr>
              <a:t>Strength:</a:t>
            </a:r>
            <a:r>
              <a:rPr lang="en-US" sz="1750" dirty="0">
                <a:solidFill>
                  <a:srgbClr val="272525"/>
                </a:solidFill>
                <a:latin typeface="Lato" pitchFamily="34" charset="0"/>
                <a:ea typeface="Lato" pitchFamily="34" charset="-122"/>
                <a:cs typeface="Lato" pitchFamily="34" charset="-120"/>
              </a:rPr>
              <a:t> Demonstrated CNNs' superior pattern recognition vs traditional ML methods (99.9% accuracy)</a:t>
            </a:r>
            <a:endParaRPr lang="en-US" sz="1750" dirty="0"/>
          </a:p>
        </p:txBody>
      </p:sp>
      <p:sp>
        <p:nvSpPr>
          <p:cNvPr id="10" name="Text 8"/>
          <p:cNvSpPr/>
          <p:nvPr/>
        </p:nvSpPr>
        <p:spPr>
          <a:xfrm>
            <a:off x="5332928" y="6055400"/>
            <a:ext cx="397811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b. </a:t>
            </a:r>
            <a:r>
              <a:rPr lang="en-US" sz="1750" i="1" dirty="0">
                <a:solidFill>
                  <a:srgbClr val="272525"/>
                </a:solidFill>
                <a:latin typeface="Lato" pitchFamily="34" charset="0"/>
                <a:ea typeface="Lato" pitchFamily="34" charset="-122"/>
                <a:cs typeface="Lato" pitchFamily="34" charset="-120"/>
              </a:rPr>
              <a:t>Limitation:</a:t>
            </a:r>
            <a:r>
              <a:rPr lang="en-US" sz="1750" dirty="0">
                <a:solidFill>
                  <a:srgbClr val="272525"/>
                </a:solidFill>
                <a:latin typeface="Lato" pitchFamily="34" charset="0"/>
                <a:ea typeface="Lato" pitchFamily="34" charset="-122"/>
                <a:cs typeface="Lato" pitchFamily="34" charset="-120"/>
              </a:rPr>
              <a:t> Required heavy computational resources unsuitable for real-time systems</a:t>
            </a:r>
            <a:endParaRPr lang="en-US" sz="1750" dirty="0"/>
          </a:p>
        </p:txBody>
      </p:sp>
      <p:sp>
        <p:nvSpPr>
          <p:cNvPr id="11" name="Text 9"/>
          <p:cNvSpPr/>
          <p:nvPr/>
        </p:nvSpPr>
        <p:spPr>
          <a:xfrm>
            <a:off x="9872067" y="325159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12F2B"/>
                </a:solidFill>
                <a:latin typeface="Gelasio" pitchFamily="34" charset="0"/>
                <a:ea typeface="Gelasio" pitchFamily="34" charset="-122"/>
                <a:cs typeface="Gelasio" pitchFamily="34" charset="-120"/>
              </a:rPr>
              <a:t>Sisodia et al. (2024)</a:t>
            </a:r>
            <a:endParaRPr lang="en-US" sz="2200" dirty="0"/>
          </a:p>
        </p:txBody>
      </p:sp>
      <p:sp>
        <p:nvSpPr>
          <p:cNvPr id="12" name="Text 10"/>
          <p:cNvSpPr/>
          <p:nvPr/>
        </p:nvSpPr>
        <p:spPr>
          <a:xfrm>
            <a:off x="9872067" y="3832741"/>
            <a:ext cx="397811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SMOTE-ENN Application.</a:t>
            </a:r>
            <a:endParaRPr lang="en-US" sz="1750" dirty="0"/>
          </a:p>
        </p:txBody>
      </p:sp>
      <p:sp>
        <p:nvSpPr>
          <p:cNvPr id="13" name="Text 11"/>
          <p:cNvSpPr/>
          <p:nvPr/>
        </p:nvSpPr>
        <p:spPr>
          <a:xfrm>
            <a:off x="9872067" y="4399717"/>
            <a:ext cx="397811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a. </a:t>
            </a:r>
            <a:r>
              <a:rPr lang="en-US" sz="1750" i="1" dirty="0">
                <a:solidFill>
                  <a:srgbClr val="272525"/>
                </a:solidFill>
                <a:latin typeface="Lato" pitchFamily="34" charset="0"/>
                <a:ea typeface="Lato" pitchFamily="34" charset="-122"/>
                <a:cs typeface="Lato" pitchFamily="34" charset="-120"/>
              </a:rPr>
              <a:t>Strength:</a:t>
            </a:r>
            <a:r>
              <a:rPr lang="en-US" sz="1750" dirty="0">
                <a:solidFill>
                  <a:srgbClr val="272525"/>
                </a:solidFill>
                <a:latin typeface="Lato" pitchFamily="34" charset="0"/>
                <a:ea typeface="Lato" pitchFamily="34" charset="-122"/>
                <a:cs typeface="Lato" pitchFamily="34" charset="-120"/>
              </a:rPr>
              <a:t> Achieved excellent performance (99.6% F1-score) through sophisticated feature engineering</a:t>
            </a:r>
            <a:endParaRPr lang="en-US" sz="1750" dirty="0"/>
          </a:p>
        </p:txBody>
      </p:sp>
      <p:sp>
        <p:nvSpPr>
          <p:cNvPr id="14" name="Text 12"/>
          <p:cNvSpPr/>
          <p:nvPr/>
        </p:nvSpPr>
        <p:spPr>
          <a:xfrm>
            <a:off x="9872067" y="5692497"/>
            <a:ext cx="397811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b. </a:t>
            </a:r>
            <a:r>
              <a:rPr lang="en-US" sz="1750" i="1" dirty="0">
                <a:solidFill>
                  <a:srgbClr val="272525"/>
                </a:solidFill>
                <a:latin typeface="Lato" pitchFamily="34" charset="0"/>
                <a:ea typeface="Lato" pitchFamily="34" charset="-122"/>
                <a:cs typeface="Lato" pitchFamily="34" charset="-120"/>
              </a:rPr>
              <a:t>Limitation:</a:t>
            </a:r>
            <a:r>
              <a:rPr lang="en-US" sz="1750" dirty="0">
                <a:solidFill>
                  <a:srgbClr val="272525"/>
                </a:solidFill>
                <a:latin typeface="Lato" pitchFamily="34" charset="0"/>
                <a:ea typeface="Lato" pitchFamily="34" charset="-122"/>
                <a:cs typeface="Lato" pitchFamily="34" charset="-120"/>
              </a:rPr>
              <a:t> Complex ensemble methods created high computational overhead</a:t>
            </a:r>
            <a:endParaRPr lang="en-US" sz="1750" dirty="0"/>
          </a:p>
        </p:txBody>
      </p:sp>
      <p:sp>
        <p:nvSpPr>
          <p:cNvPr id="15" name="Rectangle 14">
            <a:extLst>
              <a:ext uri="{FF2B5EF4-FFF2-40B4-BE49-F238E27FC236}">
                <a16:creationId xmlns:a16="http://schemas.microsoft.com/office/drawing/2014/main" id="{592644D3-B8D4-9D52-FD26-89918422CEA1}"/>
              </a:ext>
            </a:extLst>
          </p:cNvPr>
          <p:cNvSpPr/>
          <p:nvPr/>
        </p:nvSpPr>
        <p:spPr>
          <a:xfrm>
            <a:off x="12711165" y="7752587"/>
            <a:ext cx="1828800" cy="401934"/>
          </a:xfrm>
          <a:prstGeom prst="rect">
            <a:avLst/>
          </a:prstGeom>
          <a:solidFill>
            <a:srgbClr val="FEFEFE"/>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1000"/>
                                        <p:tgtEl>
                                          <p:spTgt spid="11"/>
                                        </p:tgtEl>
                                      </p:cBhvr>
                                    </p:animEffect>
                                    <p:anim calcmode="lin" valueType="num">
                                      <p:cBhvr>
                                        <p:cTn id="52" dur="1000" fill="hold"/>
                                        <p:tgtEl>
                                          <p:spTgt spid="11"/>
                                        </p:tgtEl>
                                        <p:attrNameLst>
                                          <p:attrName>ppt_x</p:attrName>
                                        </p:attrNameLst>
                                      </p:cBhvr>
                                      <p:tavLst>
                                        <p:tav tm="0">
                                          <p:val>
                                            <p:strVal val="#ppt_x"/>
                                          </p:val>
                                        </p:tav>
                                        <p:tav tm="100000">
                                          <p:val>
                                            <p:strVal val="#ppt_x"/>
                                          </p:val>
                                        </p:tav>
                                      </p:tavLst>
                                    </p:anim>
                                    <p:anim calcmode="lin" valueType="num">
                                      <p:cBhvr>
                                        <p:cTn id="53" dur="1000" fill="hold"/>
                                        <p:tgtEl>
                                          <p:spTgt spid="11"/>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1000"/>
                                        <p:tgtEl>
                                          <p:spTgt spid="12"/>
                                        </p:tgtEl>
                                      </p:cBhvr>
                                    </p:animEffect>
                                    <p:anim calcmode="lin" valueType="num">
                                      <p:cBhvr>
                                        <p:cTn id="57" dur="1000" fill="hold"/>
                                        <p:tgtEl>
                                          <p:spTgt spid="12"/>
                                        </p:tgtEl>
                                        <p:attrNameLst>
                                          <p:attrName>ppt_x</p:attrName>
                                        </p:attrNameLst>
                                      </p:cBhvr>
                                      <p:tavLst>
                                        <p:tav tm="0">
                                          <p:val>
                                            <p:strVal val="#ppt_x"/>
                                          </p:val>
                                        </p:tav>
                                        <p:tav tm="100000">
                                          <p:val>
                                            <p:strVal val="#ppt_x"/>
                                          </p:val>
                                        </p:tav>
                                      </p:tavLst>
                                    </p:anim>
                                    <p:anim calcmode="lin" valueType="num">
                                      <p:cBhvr>
                                        <p:cTn id="58" dur="1000" fill="hold"/>
                                        <p:tgtEl>
                                          <p:spTgt spid="12"/>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1000"/>
                                        <p:tgtEl>
                                          <p:spTgt spid="13"/>
                                        </p:tgtEl>
                                      </p:cBhvr>
                                    </p:animEffect>
                                    <p:anim calcmode="lin" valueType="num">
                                      <p:cBhvr>
                                        <p:cTn id="62" dur="1000" fill="hold"/>
                                        <p:tgtEl>
                                          <p:spTgt spid="13"/>
                                        </p:tgtEl>
                                        <p:attrNameLst>
                                          <p:attrName>ppt_x</p:attrName>
                                        </p:attrNameLst>
                                      </p:cBhvr>
                                      <p:tavLst>
                                        <p:tav tm="0">
                                          <p:val>
                                            <p:strVal val="#ppt_x"/>
                                          </p:val>
                                        </p:tav>
                                        <p:tav tm="100000">
                                          <p:val>
                                            <p:strVal val="#ppt_x"/>
                                          </p:val>
                                        </p:tav>
                                      </p:tavLst>
                                    </p:anim>
                                    <p:anim calcmode="lin" valueType="num">
                                      <p:cBhvr>
                                        <p:cTn id="63" dur="1000" fill="hold"/>
                                        <p:tgtEl>
                                          <p:spTgt spid="13"/>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1000"/>
                                        <p:tgtEl>
                                          <p:spTgt spid="14"/>
                                        </p:tgtEl>
                                      </p:cBhvr>
                                    </p:animEffect>
                                    <p:anim calcmode="lin" valueType="num">
                                      <p:cBhvr>
                                        <p:cTn id="67" dur="1000" fill="hold"/>
                                        <p:tgtEl>
                                          <p:spTgt spid="14"/>
                                        </p:tgtEl>
                                        <p:attrNameLst>
                                          <p:attrName>ppt_x</p:attrName>
                                        </p:attrNameLst>
                                      </p:cBhvr>
                                      <p:tavLst>
                                        <p:tav tm="0">
                                          <p:val>
                                            <p:strVal val="#ppt_x"/>
                                          </p:val>
                                        </p:tav>
                                        <p:tav tm="100000">
                                          <p:val>
                                            <p:strVal val="#ppt_x"/>
                                          </p:val>
                                        </p:tav>
                                      </p:tavLst>
                                    </p:anim>
                                    <p:anim calcmode="lin" valueType="num">
                                      <p:cBhvr>
                                        <p:cTn id="6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93790" y="986314"/>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Lightweight Models for Efficiency</a:t>
            </a:r>
            <a:endParaRPr lang="en-US" sz="4450" dirty="0"/>
          </a:p>
        </p:txBody>
      </p:sp>
      <p:sp>
        <p:nvSpPr>
          <p:cNvPr id="4" name="Text 1"/>
          <p:cNvSpPr/>
          <p:nvPr/>
        </p:nvSpPr>
        <p:spPr>
          <a:xfrm>
            <a:off x="793790" y="2744033"/>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To address the computational complexity of fraud detection, lightweight models offer a promising solution. These models can provide a balance between accuracy and speed, making them suitable for real-time deployment in financial systems. Examples include Logistic Regression, Decision Trees, and pruned Neural Networks.</a:t>
            </a:r>
            <a:endParaRPr lang="en-US" sz="1750" dirty="0"/>
          </a:p>
        </p:txBody>
      </p:sp>
      <p:pic>
        <p:nvPicPr>
          <p:cNvPr id="5" name="Image 1" descr="preencoded.png"/>
          <p:cNvPicPr>
            <a:picLocks noChangeAspect="1"/>
          </p:cNvPicPr>
          <p:nvPr/>
        </p:nvPicPr>
        <p:blipFill>
          <a:blip r:embed="rId3"/>
          <a:stretch>
            <a:fillRect/>
          </a:stretch>
        </p:blipFill>
        <p:spPr>
          <a:xfrm>
            <a:off x="793790" y="4813697"/>
            <a:ext cx="566976" cy="566976"/>
          </a:xfrm>
          <a:prstGeom prst="rect">
            <a:avLst/>
          </a:prstGeom>
        </p:spPr>
      </p:pic>
      <p:sp>
        <p:nvSpPr>
          <p:cNvPr id="6" name="Text 2"/>
          <p:cNvSpPr/>
          <p:nvPr/>
        </p:nvSpPr>
        <p:spPr>
          <a:xfrm>
            <a:off x="1644253" y="494835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Faster Processing</a:t>
            </a:r>
            <a:endParaRPr lang="en-US" sz="2200" dirty="0"/>
          </a:p>
        </p:txBody>
      </p:sp>
      <p:sp>
        <p:nvSpPr>
          <p:cNvPr id="7" name="Text 3"/>
          <p:cNvSpPr/>
          <p:nvPr/>
        </p:nvSpPr>
        <p:spPr>
          <a:xfrm>
            <a:off x="1644253" y="5438775"/>
            <a:ext cx="6705957"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Reduced training and inference times.</a:t>
            </a:r>
            <a:endParaRPr lang="en-US" sz="1750" dirty="0"/>
          </a:p>
        </p:txBody>
      </p:sp>
      <p:pic>
        <p:nvPicPr>
          <p:cNvPr id="8" name="Image 2" descr="preencoded.png"/>
          <p:cNvPicPr>
            <a:picLocks noChangeAspect="1"/>
          </p:cNvPicPr>
          <p:nvPr/>
        </p:nvPicPr>
        <p:blipFill>
          <a:blip r:embed="rId4"/>
          <a:stretch>
            <a:fillRect/>
          </a:stretch>
        </p:blipFill>
        <p:spPr>
          <a:xfrm>
            <a:off x="793790" y="6255306"/>
            <a:ext cx="566976" cy="566976"/>
          </a:xfrm>
          <a:prstGeom prst="rect">
            <a:avLst/>
          </a:prstGeom>
        </p:spPr>
      </p:pic>
      <p:sp>
        <p:nvSpPr>
          <p:cNvPr id="9" name="Text 4"/>
          <p:cNvSpPr/>
          <p:nvPr/>
        </p:nvSpPr>
        <p:spPr>
          <a:xfrm>
            <a:off x="1644253" y="638996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Lower Overhead</a:t>
            </a:r>
            <a:endParaRPr lang="en-US" sz="2200" dirty="0"/>
          </a:p>
        </p:txBody>
      </p:sp>
      <p:sp>
        <p:nvSpPr>
          <p:cNvPr id="10" name="Text 5"/>
          <p:cNvSpPr/>
          <p:nvPr/>
        </p:nvSpPr>
        <p:spPr>
          <a:xfrm>
            <a:off x="1644253" y="6880384"/>
            <a:ext cx="6705957"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Less computational resources required.</a:t>
            </a:r>
            <a:endParaRPr lang="en-US" sz="1750" dirty="0"/>
          </a:p>
        </p:txBody>
      </p:sp>
      <p:pic>
        <p:nvPicPr>
          <p:cNvPr id="12" name="Image 0" descr="preencoded.png"/>
          <p:cNvPicPr>
            <a:picLocks noChangeAspect="1"/>
          </p:cNvPicPr>
          <p:nvPr/>
        </p:nvPicPr>
        <p:blipFill>
          <a:blip r:embed="rId5"/>
          <a:stretch>
            <a:fillRect/>
          </a:stretch>
        </p:blipFill>
        <p:spPr>
          <a:xfrm>
            <a:off x="8350211" y="0"/>
            <a:ext cx="6280189" cy="822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315200" y="0"/>
            <a:ext cx="7315200" cy="8229600"/>
          </a:xfrm>
          <a:prstGeom prst="rect">
            <a:avLst/>
          </a:prstGeom>
        </p:spPr>
      </p:pic>
      <p:sp>
        <p:nvSpPr>
          <p:cNvPr id="4" name="Text 0"/>
          <p:cNvSpPr/>
          <p:nvPr/>
        </p:nvSpPr>
        <p:spPr>
          <a:xfrm>
            <a:off x="793790" y="1580436"/>
            <a:ext cx="57276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Lato" pitchFamily="34" charset="0"/>
                <a:ea typeface="Lato" pitchFamily="34" charset="-122"/>
                <a:cs typeface="Lato" pitchFamily="34" charset="-120"/>
              </a:rPr>
              <a:t>Proposed Solution: MobileNetV3-GRU-MLP Ensemble</a:t>
            </a:r>
            <a:endParaRPr lang="en-US" sz="1750" dirty="0"/>
          </a:p>
        </p:txBody>
      </p:sp>
      <p:sp>
        <p:nvSpPr>
          <p:cNvPr id="5" name="Text 1"/>
          <p:cNvSpPr/>
          <p:nvPr/>
        </p:nvSpPr>
        <p:spPr>
          <a:xfrm>
            <a:off x="793790" y="2385536"/>
            <a:ext cx="57276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Combines lightweight design with robust fraud detection</a:t>
            </a:r>
            <a:endParaRPr lang="en-US" sz="1750" dirty="0"/>
          </a:p>
        </p:txBody>
      </p:sp>
      <p:sp>
        <p:nvSpPr>
          <p:cNvPr id="6" name="Text 2"/>
          <p:cNvSpPr/>
          <p:nvPr/>
        </p:nvSpPr>
        <p:spPr>
          <a:xfrm>
            <a:off x="793790" y="3190637"/>
            <a:ext cx="57276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Addresses imbalance and efficiency for real-time edge use</a:t>
            </a:r>
            <a:endParaRPr lang="en-US" sz="1750" dirty="0"/>
          </a:p>
        </p:txBody>
      </p:sp>
      <p:sp>
        <p:nvSpPr>
          <p:cNvPr id="7" name="Text 3"/>
          <p:cNvSpPr/>
          <p:nvPr/>
        </p:nvSpPr>
        <p:spPr>
          <a:xfrm>
            <a:off x="793790" y="3995738"/>
            <a:ext cx="57276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Components:</a:t>
            </a:r>
            <a:endParaRPr lang="en-US" sz="1750" dirty="0"/>
          </a:p>
        </p:txBody>
      </p:sp>
      <p:sp>
        <p:nvSpPr>
          <p:cNvPr id="8" name="Text 4"/>
          <p:cNvSpPr/>
          <p:nvPr/>
        </p:nvSpPr>
        <p:spPr>
          <a:xfrm>
            <a:off x="793790" y="4437936"/>
            <a:ext cx="5727621" cy="725805"/>
          </a:xfrm>
          <a:prstGeom prst="rect">
            <a:avLst/>
          </a:prstGeom>
          <a:noFill/>
          <a:ln/>
        </p:spPr>
        <p:txBody>
          <a:bodyPr wrap="square" lIns="0" tIns="0" rIns="0" bIns="0" rtlCol="0" anchor="t"/>
          <a:lstStyle/>
          <a:p>
            <a:pPr marL="685800" lvl="1"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MobileNetV3: Extracts key transaction features efficiently</a:t>
            </a:r>
            <a:endParaRPr lang="en-US" sz="1750" dirty="0"/>
          </a:p>
        </p:txBody>
      </p:sp>
      <p:sp>
        <p:nvSpPr>
          <p:cNvPr id="9" name="Text 5"/>
          <p:cNvSpPr/>
          <p:nvPr/>
        </p:nvSpPr>
        <p:spPr>
          <a:xfrm>
            <a:off x="793790" y="5243036"/>
            <a:ext cx="57276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GRU: Captures time-based fraud patterns</a:t>
            </a:r>
            <a:endParaRPr lang="en-US" sz="1750" dirty="0"/>
          </a:p>
        </p:txBody>
      </p:sp>
      <p:sp>
        <p:nvSpPr>
          <p:cNvPr id="10" name="Text 6"/>
          <p:cNvSpPr/>
          <p:nvPr/>
        </p:nvSpPr>
        <p:spPr>
          <a:xfrm>
            <a:off x="793790" y="5685234"/>
            <a:ext cx="57276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MLP: Combines outputs for accurate predictions</a:t>
            </a:r>
            <a:endParaRPr lang="en-US" sz="1750" dirty="0"/>
          </a:p>
        </p:txBody>
      </p:sp>
      <p:sp>
        <p:nvSpPr>
          <p:cNvPr id="11" name="Text 7"/>
          <p:cNvSpPr/>
          <p:nvPr/>
        </p:nvSpPr>
        <p:spPr>
          <a:xfrm>
            <a:off x="793790" y="6127433"/>
            <a:ext cx="57276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Enhanced by SMOTE-ENN for balanced class representation</a:t>
            </a:r>
            <a:endParaRPr lang="en-US" sz="1750" dirty="0"/>
          </a:p>
        </p:txBody>
      </p:sp>
      <p:pic>
        <p:nvPicPr>
          <p:cNvPr id="12" name="Image 0" descr="preencoded.png">
            <a:extLst>
              <a:ext uri="{FF2B5EF4-FFF2-40B4-BE49-F238E27FC236}">
                <a16:creationId xmlns:a16="http://schemas.microsoft.com/office/drawing/2014/main" id="{660C37E1-5F20-12FE-E50A-79CED4DF204F}"/>
              </a:ext>
            </a:extLst>
          </p:cNvPr>
          <p:cNvPicPr>
            <a:picLocks noChangeAspect="1"/>
          </p:cNvPicPr>
          <p:nvPr/>
        </p:nvPicPr>
        <p:blipFill>
          <a:blip r:embed="rId4"/>
          <a:stretch>
            <a:fillRect/>
          </a:stretch>
        </p:blipFill>
        <p:spPr>
          <a:xfrm>
            <a:off x="7346021" y="17858"/>
            <a:ext cx="7278291" cy="821174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7315200" cy="8229600"/>
          </a:xfrm>
          <a:prstGeom prst="rect">
            <a:avLst/>
          </a:prstGeom>
        </p:spPr>
      </p:pic>
      <p:pic>
        <p:nvPicPr>
          <p:cNvPr id="3" name="Image 1" descr="preencoded.png"/>
          <p:cNvPicPr>
            <a:picLocks noChangeAspect="1"/>
          </p:cNvPicPr>
          <p:nvPr/>
        </p:nvPicPr>
        <p:blipFill>
          <a:blip r:embed="rId4"/>
          <a:stretch>
            <a:fillRect/>
          </a:stretch>
        </p:blipFill>
        <p:spPr>
          <a:xfrm>
            <a:off x="283488" y="2326481"/>
            <a:ext cx="6748105" cy="3576518"/>
          </a:xfrm>
          <a:prstGeom prst="rect">
            <a:avLst/>
          </a:prstGeom>
        </p:spPr>
      </p:pic>
      <p:sp>
        <p:nvSpPr>
          <p:cNvPr id="4" name="Text 0"/>
          <p:cNvSpPr/>
          <p:nvPr/>
        </p:nvSpPr>
        <p:spPr>
          <a:xfrm>
            <a:off x="8108990" y="1475303"/>
            <a:ext cx="5727621" cy="1417558"/>
          </a:xfrm>
          <a:prstGeom prst="rect">
            <a:avLst/>
          </a:prstGeom>
          <a:noFill/>
          <a:ln/>
        </p:spPr>
        <p:txBody>
          <a:bodyPr wrap="squar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Proposed Architecture Diagram</a:t>
            </a:r>
            <a:endParaRPr lang="en-US" sz="4450" dirty="0"/>
          </a:p>
        </p:txBody>
      </p:sp>
      <p:sp>
        <p:nvSpPr>
          <p:cNvPr id="5" name="Text 1"/>
          <p:cNvSpPr/>
          <p:nvPr/>
        </p:nvSpPr>
        <p:spPr>
          <a:xfrm>
            <a:off x="8108990" y="3233023"/>
            <a:ext cx="5727621"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The diagram illustrates the flow of data and the interaction between the components of our MobileNetV3-GRU-MLP ensemble, integrated with the SMOTE-ENN preprocessing step.</a:t>
            </a:r>
            <a:endParaRPr lang="en-US" sz="1750" dirty="0"/>
          </a:p>
        </p:txBody>
      </p:sp>
      <p:sp>
        <p:nvSpPr>
          <p:cNvPr id="6" name="Text 2"/>
          <p:cNvSpPr/>
          <p:nvPr/>
        </p:nvSpPr>
        <p:spPr>
          <a:xfrm>
            <a:off x="8108990" y="4939784"/>
            <a:ext cx="5727621" cy="1814513"/>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This architecture ensures that transactions are efficiently processed, features are comprehensively extracted, temporal patterns are recognized, and class imbalance is effectively managed for optimal fraud detection performance.</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36640"/>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Performance of Our Model: Before and After SMOTE-ENN</a:t>
            </a:r>
            <a:endParaRPr lang="en-US" sz="4450" dirty="0"/>
          </a:p>
        </p:txBody>
      </p:sp>
      <p:sp>
        <p:nvSpPr>
          <p:cNvPr id="3" name="Text 1"/>
          <p:cNvSpPr/>
          <p:nvPr/>
        </p:nvSpPr>
        <p:spPr>
          <a:xfrm>
            <a:off x="793790" y="2698433"/>
            <a:ext cx="6924437"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The table below highlights the significant impact of integrating </a:t>
            </a:r>
            <a:r>
              <a:rPr lang="en-US" sz="1750" b="1" dirty="0">
                <a:solidFill>
                  <a:srgbClr val="3C3939"/>
                </a:solidFill>
                <a:latin typeface="Roboto" pitchFamily="34" charset="0"/>
                <a:ea typeface="Roboto" pitchFamily="34" charset="-122"/>
                <a:cs typeface="Roboto" pitchFamily="34" charset="-120"/>
              </a:rPr>
              <a:t>SMOTE-ENN</a:t>
            </a:r>
            <a:r>
              <a:rPr lang="en-US" sz="1750" dirty="0">
                <a:solidFill>
                  <a:srgbClr val="3C3939"/>
                </a:solidFill>
                <a:latin typeface="Roboto" pitchFamily="34" charset="0"/>
                <a:ea typeface="Roboto" pitchFamily="34" charset="-122"/>
                <a:cs typeface="Roboto" pitchFamily="34" charset="-120"/>
              </a:rPr>
              <a:t> into our fraud detection pipeline. The metrics clearly demonstrate the enhanced ability of our model to accurately identify fraudulent transactions once the class imbalance is addressed.</a:t>
            </a:r>
            <a:endParaRPr lang="en-US" sz="1750" dirty="0"/>
          </a:p>
        </p:txBody>
      </p:sp>
      <p:sp>
        <p:nvSpPr>
          <p:cNvPr id="4" name="Shape 2"/>
          <p:cNvSpPr/>
          <p:nvPr/>
        </p:nvSpPr>
        <p:spPr>
          <a:xfrm>
            <a:off x="793790" y="4405193"/>
            <a:ext cx="6924437" cy="1315879"/>
          </a:xfrm>
          <a:prstGeom prst="roundRect">
            <a:avLst>
              <a:gd name="adj" fmla="val 7240"/>
            </a:avLst>
          </a:prstGeom>
          <a:noFill/>
          <a:ln w="7620">
            <a:solidFill>
              <a:srgbClr val="000000">
                <a:alpha val="8000"/>
              </a:srgbClr>
            </a:solidFill>
            <a:prstDash val="solid"/>
          </a:ln>
        </p:spPr>
        <p:txBody>
          <a:bodyPr/>
          <a:lstStyle/>
          <a:p>
            <a:endParaRPr lang="en-GB"/>
          </a:p>
        </p:txBody>
      </p:sp>
      <p:sp>
        <p:nvSpPr>
          <p:cNvPr id="5" name="Shape 3"/>
          <p:cNvSpPr/>
          <p:nvPr/>
        </p:nvSpPr>
        <p:spPr>
          <a:xfrm>
            <a:off x="801410" y="4412813"/>
            <a:ext cx="6910507" cy="650319"/>
          </a:xfrm>
          <a:prstGeom prst="rect">
            <a:avLst/>
          </a:prstGeom>
          <a:solidFill>
            <a:srgbClr val="FFFFFF">
              <a:alpha val="4000"/>
            </a:srgbClr>
          </a:solidFill>
          <a:ln/>
        </p:spPr>
        <p:txBody>
          <a:bodyPr/>
          <a:lstStyle/>
          <a:p>
            <a:endParaRPr lang="en-GB"/>
          </a:p>
        </p:txBody>
      </p:sp>
      <p:sp>
        <p:nvSpPr>
          <p:cNvPr id="6" name="Text 4"/>
          <p:cNvSpPr/>
          <p:nvPr/>
        </p:nvSpPr>
        <p:spPr>
          <a:xfrm>
            <a:off x="1028581" y="4556522"/>
            <a:ext cx="694253"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Before</a:t>
            </a:r>
            <a:endParaRPr lang="en-US" sz="1750" dirty="0"/>
          </a:p>
        </p:txBody>
      </p:sp>
      <p:sp>
        <p:nvSpPr>
          <p:cNvPr id="7" name="Text 5"/>
          <p:cNvSpPr/>
          <p:nvPr/>
        </p:nvSpPr>
        <p:spPr>
          <a:xfrm>
            <a:off x="2184083" y="4556522"/>
            <a:ext cx="690443"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0.945</a:t>
            </a:r>
            <a:endParaRPr lang="en-US" sz="1750" dirty="0"/>
          </a:p>
        </p:txBody>
      </p:sp>
      <p:sp>
        <p:nvSpPr>
          <p:cNvPr id="8" name="Text 6"/>
          <p:cNvSpPr/>
          <p:nvPr/>
        </p:nvSpPr>
        <p:spPr>
          <a:xfrm>
            <a:off x="3335774" y="4556522"/>
            <a:ext cx="690443"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0.971</a:t>
            </a:r>
            <a:endParaRPr lang="en-US" sz="1750" dirty="0"/>
          </a:p>
        </p:txBody>
      </p:sp>
      <p:sp>
        <p:nvSpPr>
          <p:cNvPr id="9" name="Text 7"/>
          <p:cNvSpPr/>
          <p:nvPr/>
        </p:nvSpPr>
        <p:spPr>
          <a:xfrm>
            <a:off x="4487466" y="4556522"/>
            <a:ext cx="690443"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0.801</a:t>
            </a:r>
            <a:endParaRPr lang="en-US" sz="1750" dirty="0"/>
          </a:p>
        </p:txBody>
      </p:sp>
      <p:sp>
        <p:nvSpPr>
          <p:cNvPr id="10" name="Text 8"/>
          <p:cNvSpPr/>
          <p:nvPr/>
        </p:nvSpPr>
        <p:spPr>
          <a:xfrm>
            <a:off x="5639157" y="4556522"/>
            <a:ext cx="690443"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0.867</a:t>
            </a:r>
            <a:endParaRPr lang="en-US" sz="1750" dirty="0"/>
          </a:p>
        </p:txBody>
      </p:sp>
      <p:sp>
        <p:nvSpPr>
          <p:cNvPr id="11" name="Text 9"/>
          <p:cNvSpPr/>
          <p:nvPr/>
        </p:nvSpPr>
        <p:spPr>
          <a:xfrm>
            <a:off x="6790849" y="4556522"/>
            <a:ext cx="694253"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0.998</a:t>
            </a:r>
            <a:endParaRPr lang="en-US" sz="1750" dirty="0"/>
          </a:p>
        </p:txBody>
      </p:sp>
      <p:sp>
        <p:nvSpPr>
          <p:cNvPr id="12" name="Shape 10"/>
          <p:cNvSpPr/>
          <p:nvPr/>
        </p:nvSpPr>
        <p:spPr>
          <a:xfrm>
            <a:off x="801410" y="5063133"/>
            <a:ext cx="6910507" cy="650319"/>
          </a:xfrm>
          <a:prstGeom prst="rect">
            <a:avLst/>
          </a:prstGeom>
          <a:solidFill>
            <a:srgbClr val="000000">
              <a:alpha val="4000"/>
            </a:srgbClr>
          </a:solidFill>
          <a:ln/>
        </p:spPr>
        <p:txBody>
          <a:bodyPr/>
          <a:lstStyle/>
          <a:p>
            <a:endParaRPr lang="en-GB"/>
          </a:p>
        </p:txBody>
      </p:sp>
      <p:sp>
        <p:nvSpPr>
          <p:cNvPr id="13" name="Text 11"/>
          <p:cNvSpPr/>
          <p:nvPr/>
        </p:nvSpPr>
        <p:spPr>
          <a:xfrm>
            <a:off x="1028581" y="5206841"/>
            <a:ext cx="694253"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After</a:t>
            </a:r>
            <a:endParaRPr lang="en-US" sz="1750" dirty="0"/>
          </a:p>
        </p:txBody>
      </p:sp>
      <p:sp>
        <p:nvSpPr>
          <p:cNvPr id="14" name="Text 12"/>
          <p:cNvSpPr/>
          <p:nvPr/>
        </p:nvSpPr>
        <p:spPr>
          <a:xfrm>
            <a:off x="2184083" y="5206841"/>
            <a:ext cx="690443"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0.878</a:t>
            </a:r>
            <a:endParaRPr lang="en-US" sz="1750" dirty="0"/>
          </a:p>
        </p:txBody>
      </p:sp>
      <p:sp>
        <p:nvSpPr>
          <p:cNvPr id="15" name="Text 13"/>
          <p:cNvSpPr/>
          <p:nvPr/>
        </p:nvSpPr>
        <p:spPr>
          <a:xfrm>
            <a:off x="3335774" y="5206841"/>
            <a:ext cx="690443"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0.995</a:t>
            </a:r>
            <a:endParaRPr lang="en-US" sz="1750" dirty="0"/>
          </a:p>
        </p:txBody>
      </p:sp>
      <p:sp>
        <p:nvSpPr>
          <p:cNvPr id="16" name="Text 14"/>
          <p:cNvSpPr/>
          <p:nvPr/>
        </p:nvSpPr>
        <p:spPr>
          <a:xfrm>
            <a:off x="4487466" y="5206841"/>
            <a:ext cx="690443"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0.992</a:t>
            </a:r>
            <a:endParaRPr lang="en-US" sz="1750" dirty="0"/>
          </a:p>
        </p:txBody>
      </p:sp>
      <p:sp>
        <p:nvSpPr>
          <p:cNvPr id="17" name="Text 15"/>
          <p:cNvSpPr/>
          <p:nvPr/>
        </p:nvSpPr>
        <p:spPr>
          <a:xfrm>
            <a:off x="5639157" y="5206841"/>
            <a:ext cx="690443"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0.993</a:t>
            </a:r>
            <a:endParaRPr lang="en-US" sz="1750" dirty="0"/>
          </a:p>
        </p:txBody>
      </p:sp>
      <p:sp>
        <p:nvSpPr>
          <p:cNvPr id="18" name="Text 16"/>
          <p:cNvSpPr/>
          <p:nvPr/>
        </p:nvSpPr>
        <p:spPr>
          <a:xfrm>
            <a:off x="6790849" y="5206841"/>
            <a:ext cx="694253"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0.992</a:t>
            </a:r>
            <a:endParaRPr lang="en-US" sz="1750" dirty="0"/>
          </a:p>
        </p:txBody>
      </p:sp>
      <p:sp>
        <p:nvSpPr>
          <p:cNvPr id="19" name="Text 17"/>
          <p:cNvSpPr/>
          <p:nvPr/>
        </p:nvSpPr>
        <p:spPr>
          <a:xfrm>
            <a:off x="793790" y="5976223"/>
            <a:ext cx="6924437"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The substantial improvements in sensitivity, precision, and F1-score post-SMOTE-ENN highlight the critical role of balanced data in achieving high-performing and reliable fraud detection systems.</a:t>
            </a:r>
            <a:endParaRPr lang="en-US" sz="1750" dirty="0"/>
          </a:p>
        </p:txBody>
      </p:sp>
      <p:pic>
        <p:nvPicPr>
          <p:cNvPr id="20" name="Image 0" descr="preencoded.png"/>
          <p:cNvPicPr>
            <a:picLocks noChangeAspect="1"/>
          </p:cNvPicPr>
          <p:nvPr/>
        </p:nvPicPr>
        <p:blipFill>
          <a:blip r:embed="rId3"/>
          <a:stretch>
            <a:fillRect/>
          </a:stretch>
        </p:blipFill>
        <p:spPr>
          <a:xfrm>
            <a:off x="8279249" y="2749510"/>
            <a:ext cx="5564862" cy="2832497"/>
          </a:xfrm>
          <a:prstGeom prst="rect">
            <a:avLst/>
          </a:prstGeom>
        </p:spPr>
      </p:pic>
      <p:sp>
        <p:nvSpPr>
          <p:cNvPr id="21" name="Text 18"/>
          <p:cNvSpPr/>
          <p:nvPr/>
        </p:nvSpPr>
        <p:spPr>
          <a:xfrm>
            <a:off x="8279249" y="5837158"/>
            <a:ext cx="5564862"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While overall accuracy might slightly decrease, the critical metrics for fraud detection (Sensitivity, Precision, F1-Score) show remarkable improvement, indicating better detection of true positives.</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0079" y="496491"/>
            <a:ext cx="13370243" cy="1125141"/>
          </a:xfrm>
          <a:prstGeom prst="rect">
            <a:avLst/>
          </a:prstGeom>
          <a:noFill/>
          <a:ln/>
        </p:spPr>
        <p:txBody>
          <a:bodyPr wrap="square" lIns="0" tIns="0" rIns="0" bIns="0" rtlCol="0" anchor="t"/>
          <a:lstStyle/>
          <a:p>
            <a:pPr marL="0" indent="0" algn="l">
              <a:lnSpc>
                <a:spcPts val="4400"/>
              </a:lnSpc>
              <a:buNone/>
            </a:pPr>
            <a:r>
              <a:rPr lang="en-US" sz="3500" dirty="0">
                <a:solidFill>
                  <a:srgbClr val="312F2B"/>
                </a:solidFill>
                <a:latin typeface="Gelasio" pitchFamily="34" charset="0"/>
                <a:ea typeface="Gelasio" pitchFamily="34" charset="-122"/>
                <a:cs typeface="Gelasio" pitchFamily="34" charset="-120"/>
              </a:rPr>
              <a:t>Comparison with Related Works of Credit Card Fraud Detection Models</a:t>
            </a:r>
            <a:endParaRPr lang="en-US" sz="3500" dirty="0"/>
          </a:p>
        </p:txBody>
      </p:sp>
      <p:pic>
        <p:nvPicPr>
          <p:cNvPr id="3" name="Image 0" descr="preencoded.png"/>
          <p:cNvPicPr>
            <a:picLocks noChangeAspect="1"/>
          </p:cNvPicPr>
          <p:nvPr/>
        </p:nvPicPr>
        <p:blipFill>
          <a:blip r:embed="rId3"/>
          <a:stretch>
            <a:fillRect/>
          </a:stretch>
        </p:blipFill>
        <p:spPr>
          <a:xfrm>
            <a:off x="630079" y="1981675"/>
            <a:ext cx="12284537" cy="6243367"/>
          </a:xfrm>
          <a:prstGeom prst="rect">
            <a:avLst/>
          </a:prstGeom>
        </p:spPr>
      </p:pic>
      <p:sp>
        <p:nvSpPr>
          <p:cNvPr id="4" name="Text 1"/>
          <p:cNvSpPr/>
          <p:nvPr/>
        </p:nvSpPr>
        <p:spPr>
          <a:xfrm>
            <a:off x="630079" y="7445097"/>
            <a:ext cx="13370243" cy="288012"/>
          </a:xfrm>
          <a:prstGeom prst="rect">
            <a:avLst/>
          </a:prstGeom>
          <a:noFill/>
          <a:ln/>
        </p:spPr>
        <p:txBody>
          <a:bodyPr wrap="none" lIns="0" tIns="0" rIns="0" bIns="0" rtlCol="0" anchor="t"/>
          <a:lstStyle/>
          <a:p>
            <a:pPr marL="0" indent="0" algn="l">
              <a:lnSpc>
                <a:spcPts val="2250"/>
              </a:lnSpc>
              <a:buNone/>
            </a:pPr>
            <a:endParaRPr lang="en-US" sz="1400"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txBody>
          <a:bodyPr/>
          <a:lstStyle/>
          <a:p>
            <a:endParaRPr lang="en-GB"/>
          </a:p>
        </p:txBody>
      </p:sp>
      <p:sp>
        <p:nvSpPr>
          <p:cNvPr id="4" name="Text 1"/>
          <p:cNvSpPr/>
          <p:nvPr/>
        </p:nvSpPr>
        <p:spPr>
          <a:xfrm>
            <a:off x="4479846" y="3760351"/>
            <a:ext cx="5670590" cy="708779"/>
          </a:xfrm>
          <a:prstGeom prst="rect">
            <a:avLst/>
          </a:prstGeom>
          <a:noFill/>
          <a:ln/>
        </p:spPr>
        <p:txBody>
          <a:bodyPr wrap="none" lIns="0" tIns="0" rIns="0" bIns="0" rtlCol="0" anchor="t"/>
          <a:lstStyle/>
          <a:p>
            <a:pPr marL="0" indent="0" algn="ctr">
              <a:lnSpc>
                <a:spcPts val="5550"/>
              </a:lnSpc>
              <a:buNone/>
            </a:pPr>
            <a:r>
              <a:rPr lang="en-US" sz="4450" b="1" dirty="0">
                <a:solidFill>
                  <a:srgbClr val="1B1B27"/>
                </a:solidFill>
                <a:latin typeface="Raleway" pitchFamily="34" charset="0"/>
                <a:ea typeface="Raleway" pitchFamily="34" charset="-122"/>
                <a:cs typeface="Raleway" pitchFamily="34" charset="-120"/>
              </a:rPr>
              <a:t>Thank you</a:t>
            </a:r>
            <a:endParaRPr lang="en-US" sz="4450"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EFEFE"/>
        </a:solidFill>
        <a:ln>
          <a:solidFill>
            <a:schemeClr val="bg1"/>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TotalTime>
  <Words>837</Words>
  <Application>Microsoft Office PowerPoint</Application>
  <PresentationFormat>Custom</PresentationFormat>
  <Paragraphs>91</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Raleway</vt:lpstr>
      <vt:lpstr>Arial</vt:lpstr>
      <vt:lpstr>Gelasio</vt:lpstr>
      <vt:lpstr>Lato</vt:lpstr>
      <vt:lpstr>Roboto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KINGSLEY AMOAFO</cp:lastModifiedBy>
  <cp:revision>9</cp:revision>
  <dcterms:created xsi:type="dcterms:W3CDTF">2025-05-30T22:40:04Z</dcterms:created>
  <dcterms:modified xsi:type="dcterms:W3CDTF">2025-09-20T10:04:23Z</dcterms:modified>
</cp:coreProperties>
</file>